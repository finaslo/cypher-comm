
<file path=[Content_Types].xml><?xml version="1.0" encoding="utf-8"?>
<Types xmlns="http://schemas.openxmlformats.org/package/2006/content-types"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11"/>
    <p:restoredTop sz="94694"/>
  </p:normalViewPr>
  <p:slideViewPr>
    <p:cSldViewPr snapToGrid="0">
      <p:cViewPr varScale="1">
        <p:scale>
          <a:sx n="110" d="100"/>
          <a:sy n="110" d="100"/>
        </p:scale>
        <p:origin x="-658" y="-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2500" lnSpcReduction="9999"/>
          </a:bodyPr>
          <a:lstStyle>
            <a:lvl1pPr indent="0" algn="l">
              <a:buNone/>
              <a:defRPr lang="ru-RU" sz="5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5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68191B3-DCD7-4FFE-BBA1-659DB848608D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pPr indent="0" algn="r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 hasCustomPrompt="1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lnSpcReduction="9999"/>
          </a:bodyPr>
          <a:lstStyle>
            <a:lvl1pPr indent="0" algn="ctr">
              <a:lnSpc>
                <a:spcPct val="100000"/>
              </a:lnSpc>
              <a:buNone/>
              <a:defRPr lang="ru-RU" sz="1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ru-RU" sz="1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xx%</a:t>
            </a:r>
            <a:endParaRPr lang="ru-RU" sz="1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4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5667BCD-3BFA-480C-A28B-966C2E54D836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pPr indent="0" algn="r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0818501-A27A-458E-BF22-953334FECE3B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pPr indent="0" algn="r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77500" lnSpcReduction="19999"/>
          </a:bodyPr>
          <a:lstStyle>
            <a:lvl1pPr indent="0" algn="l">
              <a:buNone/>
              <a:defRPr lang="ru-RU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B8FE030-CC6B-46BA-A6D4-EB6A6B90B82A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pPr indent="0" algn="r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2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0084CD2-730C-43C8-9033-AA08A224AE3C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pPr indent="0" algn="r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16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459F819-428D-4AF6-AD27-AA6A0CABBEA6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pPr indent="0" algn="r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buNone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18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C6F1B77-6FEE-4EE7-B3FD-D950F572B7DD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pPr indent="0" algn="r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62500" lnSpcReduction="19999"/>
          </a:bodyPr>
          <a:lstStyle>
            <a:lvl1pPr indent="0" algn="l">
              <a:buNone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049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21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4941799-E6F5-49D9-BFAC-E626D1518839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pPr indent="0" algn="r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buNone/>
              <a:def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4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4D8FBA8-3C4E-4A9C-BF5F-A19430B20E33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pPr indent="0" algn="r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77500" lnSpcReduction="19999"/>
          </a:bodyPr>
          <a:lstStyle>
            <a:lvl1pPr indent="0" algn="l">
              <a:buNone/>
              <a:defRPr lang="ru-RU" sz="4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4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7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27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47E5E4C-3046-4AA7-939A-90B7C86407C7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pPr indent="0" algn="r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F31EDB8-F360-4B3D-88BD-4DE4B1BFE9A9}" type="slidenum">
              <a:rPr lang="ru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pPr indent="0" algn="r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ru-RU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dt" idx="12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ftr" idx="13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32" name="PlaceHolder 3"/>
          <p:cNvSpPr>
            <a:spLocks noGrp="1"/>
          </p:cNvSpPr>
          <p:nvPr>
            <p:ph type="sldNum" idx="14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C1ACF37-BB56-4F88-AB24-30A1ED60376B}" type="slidenum">
              <a:rPr lang="ru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pPr indent="0" algn="r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VERTICAL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rmAutofit lnSpcReduction="9999"/>
          </a:bodyPr>
          <a:lstStyle>
            <a:lvl1pPr indent="0" algn="l">
              <a:buNone/>
              <a:def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 rot="5400000">
            <a:off x="2940480" y="-942480"/>
            <a:ext cx="3263040" cy="788652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37" name="PlaceHolder 3"/>
          <p:cNvSpPr>
            <a:spLocks noGrp="1"/>
          </p:cNvSpPr>
          <p:nvPr>
            <p:ph type="dt" idx="15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38" name="PlaceHolder 4"/>
          <p:cNvSpPr>
            <a:spLocks noGrp="1"/>
          </p:cNvSpPr>
          <p:nvPr>
            <p:ph type="ftr" idx="16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39" name="PlaceHolder 5"/>
          <p:cNvSpPr>
            <a:spLocks noGrp="1"/>
          </p:cNvSpPr>
          <p:nvPr>
            <p:ph type="sldNum" idx="17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ED77D15-A1E9-47A8-986B-BAF90BC6E10A}" type="slidenum">
              <a:rPr lang="ru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pPr indent="0" algn="r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_TITLE_AND_VERTICAL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 rot="5400000">
            <a:off x="5350320" y="1467360"/>
            <a:ext cx="4358520" cy="197136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rmAutofit/>
          </a:bodyPr>
          <a:lstStyle>
            <a:lvl1pPr indent="0" algn="l">
              <a:buNone/>
              <a:def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 rot="5400000">
            <a:off x="1349640" y="-446760"/>
            <a:ext cx="4358520" cy="580032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42" name="PlaceHolder 3"/>
          <p:cNvSpPr>
            <a:spLocks noGrp="1"/>
          </p:cNvSpPr>
          <p:nvPr>
            <p:ph type="dt" idx="18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43" name="PlaceHolder 4"/>
          <p:cNvSpPr>
            <a:spLocks noGrp="1"/>
          </p:cNvSpPr>
          <p:nvPr>
            <p:ph type="ftr" idx="19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44" name="PlaceHolder 5"/>
          <p:cNvSpPr>
            <a:spLocks noGrp="1"/>
          </p:cNvSpPr>
          <p:nvPr>
            <p:ph type="sldNum" idx="20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EA18C83-6EB6-4531-80C0-F24B9FA122E2}" type="slidenum">
              <a:rPr lang="ru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pPr indent="0" algn="r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Обычный 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b">
            <a:normAutofit fontScale="85000" lnSpcReduction="9999"/>
          </a:bodyPr>
          <a:lstStyle>
            <a:lvl1pPr indent="0" algn="l">
              <a:buNone/>
              <a:defRPr lang="ru-RU" sz="4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4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dt" idx="21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47" name="PlaceHolder 3"/>
          <p:cNvSpPr>
            <a:spLocks noGrp="1"/>
          </p:cNvSpPr>
          <p:nvPr>
            <p:ph type="ftr" idx="22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48" name="PlaceHolder 4"/>
          <p:cNvSpPr>
            <a:spLocks noGrp="1"/>
          </p:cNvSpPr>
          <p:nvPr>
            <p:ph type="sldNum" idx="23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35E3B16-131A-40E8-AA24-7187AC5E3448}" type="slidenum">
              <a:rPr lang="ru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pPr indent="0" algn="r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BJEC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rmAutofit lnSpcReduction="9999"/>
          </a:bodyPr>
          <a:lstStyle>
            <a:lvl1pPr indent="0" algn="l">
              <a:buNone/>
              <a:def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7886520" cy="326304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dt" idx="24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ftr" idx="25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53" name="PlaceHolder 5"/>
          <p:cNvSpPr>
            <a:spLocks noGrp="1"/>
          </p:cNvSpPr>
          <p:nvPr>
            <p:ph type="sldNum" idx="26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F819BA0-DA3D-447A-948A-F63617944245}" type="slidenum">
              <a:rPr lang="ru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pPr indent="0" algn="r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ычный 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23880" y="1282320"/>
            <a:ext cx="7886520" cy="213912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b">
            <a:normAutofit/>
          </a:bodyPr>
          <a:lstStyle>
            <a:lvl1pPr indent="0" algn="l">
              <a:buNone/>
              <a:defRPr lang="ru-RU" sz="4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4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623880" y="3441960"/>
            <a:ext cx="7886520" cy="11250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t">
            <a:normAutofit fontScale="4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56" name="PlaceHolder 3"/>
          <p:cNvSpPr>
            <a:spLocks noGrp="1"/>
          </p:cNvSpPr>
          <p:nvPr>
            <p:ph type="dt" idx="27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57" name="PlaceHolder 4"/>
          <p:cNvSpPr>
            <a:spLocks noGrp="1"/>
          </p:cNvSpPr>
          <p:nvPr>
            <p:ph type="ftr" idx="28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58" name="PlaceHolder 5"/>
          <p:cNvSpPr>
            <a:spLocks noGrp="1"/>
          </p:cNvSpPr>
          <p:nvPr>
            <p:ph type="sldNum" idx="29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F51CD4B-ABAF-4735-8D67-D9BF7263F592}" type="slidenum">
              <a:rPr lang="ru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pPr indent="0" algn="r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_OBJECT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rmAutofit lnSpcReduction="9999"/>
          </a:bodyPr>
          <a:lstStyle>
            <a:lvl1pPr indent="0" algn="l">
              <a:buNone/>
              <a:def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3885840" cy="326304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t">
            <a:normAutofit fontScale="6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29240" y="1369080"/>
            <a:ext cx="3885840" cy="326304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t">
            <a:normAutofit fontScale="6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62" name="PlaceHolder 4"/>
          <p:cNvSpPr>
            <a:spLocks noGrp="1"/>
          </p:cNvSpPr>
          <p:nvPr>
            <p:ph type="dt" idx="30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63" name="PlaceHolder 5"/>
          <p:cNvSpPr>
            <a:spLocks noGrp="1"/>
          </p:cNvSpPr>
          <p:nvPr>
            <p:ph type="ftr" idx="31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64" name="PlaceHolder 6"/>
          <p:cNvSpPr>
            <a:spLocks noGrp="1"/>
          </p:cNvSpPr>
          <p:nvPr>
            <p:ph type="sldNum" idx="32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279C748-61DE-4E56-8385-F72E5E1826BF}" type="slidenum">
              <a:rPr lang="ru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pPr indent="0" algn="r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WO_OBJECTS_WITH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30000" y="273960"/>
            <a:ext cx="7886520" cy="99396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rmAutofit lnSpcReduction="9999"/>
          </a:bodyPr>
          <a:lstStyle>
            <a:lvl1pPr indent="0" algn="l">
              <a:buNone/>
              <a:def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630000" y="1260720"/>
            <a:ext cx="3868200" cy="61776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630000" y="1878840"/>
            <a:ext cx="3868200" cy="276336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t">
            <a:normAutofit fontScale="5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68" name="PlaceHolder 4"/>
          <p:cNvSpPr>
            <a:spLocks noGrp="1"/>
          </p:cNvSpPr>
          <p:nvPr>
            <p:ph type="body"/>
          </p:nvPr>
        </p:nvSpPr>
        <p:spPr>
          <a:xfrm>
            <a:off x="4629240" y="1260720"/>
            <a:ext cx="3886920" cy="61776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69" name="PlaceHolder 5"/>
          <p:cNvSpPr>
            <a:spLocks noGrp="1"/>
          </p:cNvSpPr>
          <p:nvPr>
            <p:ph type="body"/>
          </p:nvPr>
        </p:nvSpPr>
        <p:spPr>
          <a:xfrm>
            <a:off x="4629240" y="1878840"/>
            <a:ext cx="3886920" cy="276336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t">
            <a:normAutofit fontScale="5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914400" lvl="1" indent="-3175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371600" lvl="2" indent="-3175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828800" lvl="3" indent="-3175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286000" lvl="4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743200" lvl="5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200400" lvl="6" indent="-3175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70" name="PlaceHolder 6"/>
          <p:cNvSpPr>
            <a:spLocks noGrp="1"/>
          </p:cNvSpPr>
          <p:nvPr>
            <p:ph type="dt" idx="33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71" name="PlaceHolder 7"/>
          <p:cNvSpPr>
            <a:spLocks noGrp="1"/>
          </p:cNvSpPr>
          <p:nvPr>
            <p:ph type="ftr" idx="34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72" name="PlaceHolder 8"/>
          <p:cNvSpPr>
            <a:spLocks noGrp="1"/>
          </p:cNvSpPr>
          <p:nvPr>
            <p:ph type="sldNum" idx="35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7866BAA-303F-446B-8AFA-63D89372DC8D}" type="slidenum">
              <a:rPr lang="ru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pPr indent="0" algn="r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Обычный 3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rmAutofit lnSpcReduction="9999"/>
          </a:bodyPr>
          <a:lstStyle>
            <a:lvl1pPr indent="0" algn="l">
              <a:buNone/>
              <a:def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74" name="PlaceHolder 2"/>
          <p:cNvSpPr>
            <a:spLocks noGrp="1"/>
          </p:cNvSpPr>
          <p:nvPr>
            <p:ph type="dt" idx="36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75" name="PlaceHolder 3"/>
          <p:cNvSpPr>
            <a:spLocks noGrp="1"/>
          </p:cNvSpPr>
          <p:nvPr>
            <p:ph type="ftr" idx="37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76" name="PlaceHolder 4"/>
          <p:cNvSpPr>
            <a:spLocks noGrp="1"/>
          </p:cNvSpPr>
          <p:nvPr>
            <p:ph type="sldNum" idx="38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84DA14A-1F14-41E7-A152-855F3CE3C55B}" type="slidenum">
              <a:rPr lang="ru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pPr indent="0" algn="r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BJECT_WITH_CAPTIO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30000" y="343080"/>
            <a:ext cx="2948760" cy="11998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b">
            <a:normAutofit/>
          </a:bodyPr>
          <a:lstStyle>
            <a:lvl1pPr indent="0" algn="l">
              <a:buNone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3887280" y="740520"/>
            <a:ext cx="4628880" cy="365472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t">
            <a:normAutofit fontScale="7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914400" lvl="1" indent="-3618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828800" lvl="3" indent="-324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286000" lvl="4" indent="-324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743200" lvl="5" indent="-324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200400" lvl="6" indent="-324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630000" y="1542960"/>
            <a:ext cx="2948760" cy="28584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t">
            <a:normAutofit fontScale="3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80" name="PlaceHolder 4"/>
          <p:cNvSpPr>
            <a:spLocks noGrp="1"/>
          </p:cNvSpPr>
          <p:nvPr>
            <p:ph type="dt" idx="39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81" name="PlaceHolder 5"/>
          <p:cNvSpPr>
            <a:spLocks noGrp="1"/>
          </p:cNvSpPr>
          <p:nvPr>
            <p:ph type="ftr" idx="40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82" name="PlaceHolder 6"/>
          <p:cNvSpPr>
            <a:spLocks noGrp="1"/>
          </p:cNvSpPr>
          <p:nvPr>
            <p:ph type="sldNum" idx="41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0025758-CF16-4561-A91D-0999B699C249}" type="slidenum">
              <a:rPr lang="ru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pPr indent="0" algn="r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_WITH_CAPTIO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30000" y="343080"/>
            <a:ext cx="2948760" cy="11998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b">
            <a:normAutofit/>
          </a:bodyPr>
          <a:lstStyle>
            <a:lvl1pPr indent="0" algn="l">
              <a:buNone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84" name="PlaceHolder 2"/>
          <p:cNvSpPr>
            <a:spLocks noGrp="1"/>
          </p:cNvSpPr>
          <p:nvPr>
            <p:ph type="pic"/>
          </p:nvPr>
        </p:nvSpPr>
        <p:spPr>
          <a:xfrm>
            <a:off x="3887280" y="740520"/>
            <a:ext cx="4628880" cy="3654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noAutofit/>
          </a:bodyPr>
          <a:lstStyle/>
          <a:p>
            <a:pPr indent="0" algn="l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Добавьте изображение двойным щелчком мыши</a:t>
            </a:r>
          </a:p>
        </p:txBody>
      </p:sp>
      <p:sp>
        <p:nvSpPr>
          <p:cNvPr id="85" name="PlaceHolder 3"/>
          <p:cNvSpPr>
            <a:spLocks noGrp="1"/>
          </p:cNvSpPr>
          <p:nvPr>
            <p:ph type="body"/>
          </p:nvPr>
        </p:nvSpPr>
        <p:spPr>
          <a:xfrm>
            <a:off x="630000" y="1542960"/>
            <a:ext cx="2948760" cy="28584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t">
            <a:normAutofit fontScale="32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  <p:sp>
        <p:nvSpPr>
          <p:cNvPr id="86" name="PlaceHolder 4"/>
          <p:cNvSpPr>
            <a:spLocks noGrp="1"/>
          </p:cNvSpPr>
          <p:nvPr>
            <p:ph type="dt" idx="42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87" name="PlaceHolder 5"/>
          <p:cNvSpPr>
            <a:spLocks noGrp="1"/>
          </p:cNvSpPr>
          <p:nvPr>
            <p:ph type="ftr" idx="43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88" name="PlaceHolder 6"/>
          <p:cNvSpPr>
            <a:spLocks noGrp="1"/>
          </p:cNvSpPr>
          <p:nvPr>
            <p:ph type="sldNum" idx="44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00B0796-9A3C-4209-BCE6-020EA7424B67}" type="slidenum">
              <a:rPr lang="ru" sz="9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pPr indent="0" algn="r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129;p25"/>
          <p:cNvSpPr/>
          <p:nvPr/>
        </p:nvSpPr>
        <p:spPr>
          <a:xfrm>
            <a:off x="6767640" y="4633560"/>
            <a:ext cx="2122560" cy="25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200" b="0" u="none" strike="noStrike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#МЫСОЗДАЁМДВИЖЕНИЕ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130;p25"/>
          <p:cNvSpPr/>
          <p:nvPr/>
        </p:nvSpPr>
        <p:spPr>
          <a:xfrm>
            <a:off x="6669000" y="360360"/>
            <a:ext cx="2221200" cy="25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200" b="0" u="none" strike="noStrike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ЗАЩИТА КОНЦЕПЦИЙ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131;p25"/>
          <p:cNvSpPr/>
          <p:nvPr/>
        </p:nvSpPr>
        <p:spPr>
          <a:xfrm>
            <a:off x="733680" y="1470240"/>
            <a:ext cx="7011000" cy="62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3600" b="1" u="none" strike="noStrike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ШИФР-СВЯЗЬ</a:t>
            </a:r>
            <a:endParaRPr lang="ru-RU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Google Shape;132;p25"/>
          <p:cNvSpPr/>
          <p:nvPr/>
        </p:nvSpPr>
        <p:spPr>
          <a:xfrm>
            <a:off x="733680" y="3571200"/>
            <a:ext cx="3767040" cy="74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100" b="1" u="none" strike="noStrike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Программа обучения: Инфокоммуникационные технологии и системы связи (11.03.02)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100" b="1" u="none" strike="noStrike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100" b="1" u="none" strike="noStrike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Группа: ШМС-211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Google Shape;133;p25"/>
          <p:cNvSpPr/>
          <p:nvPr/>
        </p:nvSpPr>
        <p:spPr>
          <a:xfrm>
            <a:off x="733680" y="2567880"/>
            <a:ext cx="4571640" cy="48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400" b="1" u="none" strike="noStrike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Система безопасной локальной связи диспетчеров “Шифр-Связь”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134;p25"/>
          <p:cNvSpPr/>
          <p:nvPr/>
        </p:nvSpPr>
        <p:spPr>
          <a:xfrm>
            <a:off x="733680" y="3052800"/>
            <a:ext cx="4571640" cy="38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400" b="1" u="none" strike="noStrike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0000-00-0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135;p25"/>
          <p:cNvSpPr/>
          <p:nvPr/>
        </p:nvSpPr>
        <p:spPr>
          <a:xfrm>
            <a:off x="4501080" y="3571200"/>
            <a:ext cx="4571640" cy="10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100" b="1" u="none" strike="noStrike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Наставник: </a:t>
            </a:r>
            <a:r>
              <a:rPr lang="ru" sz="1100" b="0" u="none" strike="noStrike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Волкова Е.А. </a:t>
            </a:r>
            <a:r>
              <a:rPr sz="1100"/>
              <a:t/>
            </a:r>
            <a:br>
              <a:rPr sz="1100"/>
            </a:br>
            <a:r>
              <a:rPr lang="ru" sz="1100" b="1" u="none" strike="noStrike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Команда: </a:t>
            </a:r>
            <a:r>
              <a:rPr lang="ru" sz="1100" b="0" u="none" strike="noStrike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Митрофанов Д.Р.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100" b="0" u="none" strike="noStrike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Воронин К.В.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100" b="0" u="none" strike="noStrike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Дороднев Д.А.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100" b="0" u="none" strike="noStrike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Ташкаев А.А.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100" b="0" u="none" strike="noStrike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Грекова У.В.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140;p26"/>
          <p:cNvSpPr/>
          <p:nvPr/>
        </p:nvSpPr>
        <p:spPr>
          <a:xfrm>
            <a:off x="360000" y="348480"/>
            <a:ext cx="4314600" cy="53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3000" b="1" u="none" strike="noStrike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Текущая ситуация</a:t>
            </a:r>
            <a:endParaRPr lang="ru-RU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141;p26"/>
          <p:cNvSpPr/>
          <p:nvPr/>
        </p:nvSpPr>
        <p:spPr>
          <a:xfrm>
            <a:off x="360000" y="1177560"/>
            <a:ext cx="7851240" cy="62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 algn="just">
              <a:lnSpc>
                <a:spcPct val="100000"/>
              </a:lnSpc>
              <a:tabLst>
                <a:tab pos="0" algn="l"/>
              </a:tabLst>
            </a:pPr>
            <a:r>
              <a:rPr lang="ru" sz="1800" b="0" u="none" strike="noStrike" dirty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Диспетчерам необходимо быстро и оперативно обмениваться данными в процессе работы.</a:t>
            </a:r>
            <a:endParaRPr lang="ru-RU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142;p26"/>
          <p:cNvSpPr/>
          <p:nvPr/>
        </p:nvSpPr>
        <p:spPr>
          <a:xfrm>
            <a:off x="360000" y="1944720"/>
            <a:ext cx="7851240" cy="73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 algn="just">
              <a:lnSpc>
                <a:spcPct val="100000"/>
              </a:lnSpc>
              <a:tabLst>
                <a:tab pos="0" algn="l"/>
              </a:tabLst>
            </a:pPr>
            <a:r>
              <a:rPr lang="ru" sz="1800" b="1" u="none" strike="noStrike" dirty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Проблема:</a:t>
            </a:r>
            <a:r>
              <a:rPr lang="ru" sz="1800" b="0" u="none" strike="noStrike" dirty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 У диспетчеров на данный момент отсутствует безопасный, удобный и быстрый способ обменом </a:t>
            </a:r>
            <a:r>
              <a:rPr lang="ru" sz="1800" b="0" u="none" strike="noStrike" dirty="0" smtClean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информации.</a:t>
            </a:r>
            <a:endParaRPr lang="ru-RU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143;p26"/>
          <p:cNvSpPr/>
          <p:nvPr/>
        </p:nvSpPr>
        <p:spPr>
          <a:xfrm>
            <a:off x="360000" y="2703600"/>
            <a:ext cx="7851240" cy="184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 algn="just">
              <a:lnSpc>
                <a:spcPct val="100000"/>
              </a:lnSpc>
              <a:tabLst>
                <a:tab pos="0" algn="l"/>
              </a:tabLst>
            </a:pPr>
            <a:r>
              <a:rPr lang="ru" sz="1800" b="1" u="none" strike="noStrike" dirty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Барьеры нынешних решений:</a:t>
            </a:r>
            <a:r>
              <a:rPr lang="ru" sz="1800" b="0" u="none" strike="noStrike" dirty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 Использование публичных сервисов создаёт риски перехвата сообщений третьими лицами, даже при использовании отечественных сервисов. Кроме того, работа публичных мессенджеров требует подключения к интернету, что невозможно или нежелательно в закрытой и изолированной локальной сети предприятия.</a:t>
            </a:r>
            <a:endParaRPr lang="ru-RU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48;p27"/>
          <p:cNvSpPr/>
          <p:nvPr/>
        </p:nvSpPr>
        <p:spPr>
          <a:xfrm>
            <a:off x="360000" y="348480"/>
            <a:ext cx="4314600" cy="53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3000" b="1" u="none" strike="noStrike" dirty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Текущая ситуация</a:t>
            </a:r>
            <a:endParaRPr lang="ru-RU" sz="3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149;p27"/>
          <p:cNvSpPr/>
          <p:nvPr/>
        </p:nvSpPr>
        <p:spPr>
          <a:xfrm>
            <a:off x="1265400" y="831600"/>
            <a:ext cx="1922040" cy="34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ru" sz="1800" b="0" u="none" strike="noStrike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Стейкхолдеры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2" name="Google Shape;150;p27"/>
          <p:cNvPicPr/>
          <p:nvPr/>
        </p:nvPicPr>
        <p:blipFill>
          <a:blip r:embed="rId3"/>
          <a:stretch/>
        </p:blipFill>
        <p:spPr>
          <a:xfrm>
            <a:off x="360000" y="1177920"/>
            <a:ext cx="3732840" cy="3727800"/>
          </a:xfrm>
          <a:prstGeom prst="rect">
            <a:avLst/>
          </a:prstGeom>
          <a:noFill/>
          <a:ln w="38100">
            <a:solidFill>
              <a:srgbClr val="D6EDFF"/>
            </a:solidFill>
            <a:round/>
          </a:ln>
        </p:spPr>
      </p:pic>
      <p:sp>
        <p:nvSpPr>
          <p:cNvPr id="103" name="Google Shape;151;p27"/>
          <p:cNvSpPr/>
          <p:nvPr/>
        </p:nvSpPr>
        <p:spPr>
          <a:xfrm>
            <a:off x="4674960" y="831600"/>
            <a:ext cx="4003920" cy="34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ru" sz="1800" b="0" u="none" strike="noStrike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Выводы из проблемного интервью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152;p27"/>
          <p:cNvSpPr/>
          <p:nvPr/>
        </p:nvSpPr>
        <p:spPr>
          <a:xfrm>
            <a:off x="4674960" y="1177920"/>
            <a:ext cx="4254295" cy="36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tIns="91440" bIns="91440" anchor="t">
            <a:spAutoFit/>
          </a:bodyPr>
          <a:lstStyle/>
          <a:p>
            <a:pPr marL="457200" indent="-330120" algn="just">
              <a:lnSpc>
                <a:spcPct val="100000"/>
              </a:lnSpc>
              <a:buClr>
                <a:srgbClr val="D6EDFF"/>
              </a:buClr>
              <a:buFont typeface="Arial"/>
              <a:buAutoNum type="arabicPeriod"/>
            </a:pPr>
            <a:r>
              <a:rPr lang="ru" sz="1600" b="0" u="none" strike="noStrike" dirty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Скорость обмена данными критична для операционной работы и экстренных ситуаций.</a:t>
            </a:r>
            <a:endParaRPr lang="ru-RU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30120" algn="just">
              <a:lnSpc>
                <a:spcPct val="100000"/>
              </a:lnSpc>
              <a:buClr>
                <a:srgbClr val="D6EDFF"/>
              </a:buClr>
              <a:buFont typeface="Arial"/>
              <a:buAutoNum type="arabicPeriod"/>
            </a:pPr>
            <a:r>
              <a:rPr lang="ru" sz="1600" b="0" u="none" strike="noStrike" dirty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Внутренняя почта не подходит для оперативного (синхронного) общения.</a:t>
            </a:r>
            <a:endParaRPr lang="ru-RU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30120" algn="just">
              <a:lnSpc>
                <a:spcPct val="100000"/>
              </a:lnSpc>
              <a:buClr>
                <a:srgbClr val="D6EDFF"/>
              </a:buClr>
              <a:buFont typeface="Arial"/>
              <a:buAutoNum type="arabicPeriod"/>
            </a:pPr>
            <a:r>
              <a:rPr lang="ru" sz="1600" b="0" u="none" strike="noStrike" dirty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Пользователям важен привычный UX (возможность отправлять файлы, фото, создавать групповые чаты).</a:t>
            </a:r>
            <a:endParaRPr lang="ru-RU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30120" algn="just">
              <a:lnSpc>
                <a:spcPct val="100000"/>
              </a:lnSpc>
              <a:buClr>
                <a:srgbClr val="D6EDFF"/>
              </a:buClr>
              <a:buFont typeface="Arial"/>
              <a:buAutoNum type="arabicPeriod"/>
            </a:pPr>
            <a:r>
              <a:rPr lang="ru" sz="1600" b="0" u="none" strike="noStrike" dirty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Трафик не должен покидать периметр локальной сети.</a:t>
            </a:r>
            <a:endParaRPr lang="ru-RU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30120" algn="just">
              <a:lnSpc>
                <a:spcPct val="100000"/>
              </a:lnSpc>
              <a:buClr>
                <a:srgbClr val="D6EDFF"/>
              </a:buClr>
              <a:buFont typeface="Arial"/>
              <a:buAutoNum type="arabicPeriod"/>
            </a:pPr>
            <a:r>
              <a:rPr lang="ru" sz="1600" b="0" u="none" strike="noStrike" dirty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Требуется возможность аудита и контроля.</a:t>
            </a:r>
            <a:endParaRPr lang="ru-RU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30120" algn="just">
              <a:lnSpc>
                <a:spcPct val="100000"/>
              </a:lnSpc>
              <a:buClr>
                <a:srgbClr val="D6EDFF"/>
              </a:buClr>
              <a:buFont typeface="Arial"/>
              <a:buAutoNum type="arabicPeriod"/>
            </a:pPr>
            <a:r>
              <a:rPr lang="ru" sz="1600" b="0" u="none" strike="noStrike" dirty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Полное отсутствие зависимости от внешнего интернета.</a:t>
            </a:r>
            <a:endParaRPr lang="ru-RU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57;p28"/>
          <p:cNvSpPr/>
          <p:nvPr/>
        </p:nvSpPr>
        <p:spPr>
          <a:xfrm>
            <a:off x="366480" y="275760"/>
            <a:ext cx="4314600" cy="53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3000" b="0" u="none" strike="noStrike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Анализ аналогов</a:t>
            </a:r>
            <a:endParaRPr lang="ru-RU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158;p28"/>
          <p:cNvSpPr/>
          <p:nvPr/>
        </p:nvSpPr>
        <p:spPr>
          <a:xfrm>
            <a:off x="366480" y="697320"/>
            <a:ext cx="8410680" cy="34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800" b="0" u="none" strike="noStrike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Подходящее решение отсутствует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7" name="Google Shape;159;p28"/>
          <p:cNvGraphicFramePr/>
          <p:nvPr/>
        </p:nvGraphicFramePr>
        <p:xfrm>
          <a:off x="366480" y="1043640"/>
          <a:ext cx="8411040" cy="3936240"/>
        </p:xfrm>
        <a:graphic>
          <a:graphicData uri="http://schemas.openxmlformats.org/drawingml/2006/table">
            <a:tbl>
              <a:tblPr/>
              <a:tblGrid>
                <a:gridCol w="222264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188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6505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700"/>
                        </a:spcAft>
                        <a:tabLst>
                          <a:tab pos="0" algn="l"/>
                        </a:tabLst>
                      </a:pPr>
                      <a:r>
                        <a:rPr lang="ru" sz="1400" b="1" u="none" strike="noStrike" dirty="0">
                          <a:solidFill>
                            <a:srgbClr val="D6ED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Nextcloud Talk</a:t>
                      </a:r>
                      <a:endParaRPr lang="ru-RU" sz="14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 marT="91080" marB="91080" anchor="ctr">
                    <a:lnL w="38160">
                      <a:solidFill>
                        <a:srgbClr val="0C343D"/>
                      </a:solidFill>
                      <a:prstDash val="solid"/>
                    </a:lnL>
                    <a:lnR w="38160">
                      <a:solidFill>
                        <a:srgbClr val="0C343D"/>
                      </a:solidFill>
                      <a:prstDash val="solid"/>
                    </a:lnR>
                    <a:lnT w="38160">
                      <a:solidFill>
                        <a:srgbClr val="0C343D"/>
                      </a:solidFill>
                      <a:prstDash val="solid"/>
                    </a:lnT>
                    <a:lnB w="38160">
                      <a:solidFill>
                        <a:srgbClr val="0C343D"/>
                      </a:solidFill>
                      <a:prstDash val="soli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300" b="0" u="none" strike="noStrike" dirty="0">
                          <a:solidFill>
                            <a:srgbClr val="D6ED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Ориентирован на видеоконференции, избыточный функционал. Так же сам по себе слишком “тяжёлый</a:t>
                      </a:r>
                      <a:r>
                        <a:rPr lang="ru" sz="1300" b="0" u="none" strike="noStrike" dirty="0" smtClean="0">
                          <a:solidFill>
                            <a:srgbClr val="D6ED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”.</a:t>
                      </a:r>
                      <a:endParaRPr lang="ru-RU" sz="13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 marT="91080" marB="91080">
                    <a:lnL w="38160">
                      <a:solidFill>
                        <a:srgbClr val="0C343D"/>
                      </a:solidFill>
                      <a:prstDash val="solid"/>
                    </a:lnL>
                    <a:lnR w="38160">
                      <a:solidFill>
                        <a:srgbClr val="0C343D"/>
                      </a:solidFill>
                      <a:prstDash val="solid"/>
                    </a:lnR>
                    <a:lnT w="38160">
                      <a:solidFill>
                        <a:srgbClr val="0C343D"/>
                      </a:solidFill>
                      <a:prstDash val="solid"/>
                    </a:lnT>
                    <a:lnB w="38160">
                      <a:solidFill>
                        <a:srgbClr val="0C343D"/>
                      </a:solidFill>
                      <a:prstDash val="soli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50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400" b="1" u="none" strike="noStrike">
                          <a:solidFill>
                            <a:srgbClr val="D6ED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MAX, Telegram, VK и др.</a:t>
                      </a:r>
                      <a:endParaRPr lang="ru-RU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 marT="91080" marB="91080" anchor="ctr">
                    <a:lnL w="38160">
                      <a:solidFill>
                        <a:srgbClr val="0C343D"/>
                      </a:solidFill>
                      <a:prstDash val="solid"/>
                    </a:lnL>
                    <a:lnR w="38160">
                      <a:solidFill>
                        <a:srgbClr val="0C343D"/>
                      </a:solidFill>
                      <a:prstDash val="solid"/>
                    </a:lnR>
                    <a:lnT w="38160">
                      <a:solidFill>
                        <a:srgbClr val="0C343D"/>
                      </a:solidFill>
                      <a:prstDash val="solid"/>
                    </a:lnT>
                    <a:lnB w="38160">
                      <a:solidFill>
                        <a:srgbClr val="0C343D"/>
                      </a:solidFill>
                      <a:prstDash val="soli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300" b="0" u="none" strike="noStrike" dirty="0">
                          <a:solidFill>
                            <a:srgbClr val="D6ED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Требуют постоянного </a:t>
                      </a:r>
                      <a:r>
                        <a:rPr lang="ru" sz="1300" b="0" u="none" strike="noStrike" dirty="0" smtClean="0">
                          <a:solidFill>
                            <a:srgbClr val="D6ED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интернет-подключения</a:t>
                      </a:r>
                      <a:r>
                        <a:rPr lang="ru" sz="1300" b="0" u="none" strike="noStrike" dirty="0">
                          <a:solidFill>
                            <a:srgbClr val="D6ED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, что является риском, даже если сервера отечественные.</a:t>
                      </a:r>
                      <a:endParaRPr lang="ru-RU" sz="13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 marT="91080" marB="91080">
                    <a:lnL w="38160">
                      <a:solidFill>
                        <a:srgbClr val="0C343D"/>
                      </a:solidFill>
                      <a:prstDash val="solid"/>
                    </a:lnL>
                    <a:lnR w="38160">
                      <a:solidFill>
                        <a:srgbClr val="0C343D"/>
                      </a:solidFill>
                      <a:prstDash val="solid"/>
                    </a:lnR>
                    <a:lnT w="38160">
                      <a:solidFill>
                        <a:srgbClr val="0C343D"/>
                      </a:solidFill>
                      <a:prstDash val="solid"/>
                    </a:lnT>
                    <a:lnB w="38160">
                      <a:solidFill>
                        <a:srgbClr val="0C343D"/>
                      </a:solidFill>
                      <a:prstDash val="soli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50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400" b="1" u="none" strike="noStrike">
                          <a:solidFill>
                            <a:srgbClr val="D6ED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XMPP-сервер</a:t>
                      </a:r>
                      <a:endParaRPr lang="ru-RU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 marT="91080" marB="91080" anchor="ctr">
                    <a:lnL w="38160">
                      <a:solidFill>
                        <a:srgbClr val="0C343D"/>
                      </a:solidFill>
                      <a:prstDash val="solid"/>
                    </a:lnL>
                    <a:lnR w="38160">
                      <a:solidFill>
                        <a:srgbClr val="0C343D"/>
                      </a:solidFill>
                      <a:prstDash val="solid"/>
                    </a:lnR>
                    <a:lnT w="38160">
                      <a:solidFill>
                        <a:srgbClr val="0C343D"/>
                      </a:solidFill>
                      <a:prstDash val="solid"/>
                    </a:lnT>
                    <a:lnB w="38160">
                      <a:solidFill>
                        <a:srgbClr val="0C343D"/>
                      </a:solidFill>
                      <a:prstDash val="soli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300" b="0" u="none" strike="noStrike" dirty="0">
                          <a:solidFill>
                            <a:srgbClr val="D6ED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Устаревший как </a:t>
                      </a:r>
                      <a:r>
                        <a:rPr lang="ru" sz="1300" b="0" u="none" strike="noStrike" dirty="0" smtClean="0">
                          <a:solidFill>
                            <a:srgbClr val="D6ED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UX, </a:t>
                      </a:r>
                      <a:r>
                        <a:rPr lang="ru" sz="1300" b="0" u="none" strike="noStrike" dirty="0">
                          <a:solidFill>
                            <a:srgbClr val="D6ED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так и сам по </a:t>
                      </a:r>
                      <a:r>
                        <a:rPr lang="ru" sz="1300" b="0" u="none" strike="noStrike" dirty="0" smtClean="0">
                          <a:solidFill>
                            <a:srgbClr val="D6ED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себе. </a:t>
                      </a:r>
                      <a:r>
                        <a:rPr lang="ru" sz="1300" b="0" u="none" strike="noStrike" dirty="0">
                          <a:solidFill>
                            <a:srgbClr val="D6ED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Ф</a:t>
                      </a:r>
                      <a:r>
                        <a:rPr lang="ru" sz="1300" b="0" u="none" strike="noStrike" dirty="0" smtClean="0">
                          <a:solidFill>
                            <a:srgbClr val="D6ED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рагментация </a:t>
                      </a:r>
                      <a:r>
                        <a:rPr lang="ru" sz="1300" b="0" u="none" strike="noStrike" dirty="0">
                          <a:solidFill>
                            <a:srgbClr val="D6ED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и расхождения в функционале клиентов.</a:t>
                      </a:r>
                      <a:endParaRPr lang="ru-RU" sz="13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 marT="91080" marB="91080">
                    <a:lnL w="38160">
                      <a:solidFill>
                        <a:srgbClr val="0C343D"/>
                      </a:solidFill>
                      <a:prstDash val="solid"/>
                    </a:lnL>
                    <a:lnR w="38160">
                      <a:solidFill>
                        <a:srgbClr val="0C343D"/>
                      </a:solidFill>
                      <a:prstDash val="solid"/>
                    </a:lnR>
                    <a:lnT w="38160">
                      <a:solidFill>
                        <a:srgbClr val="0C343D"/>
                      </a:solidFill>
                      <a:prstDash val="solid"/>
                    </a:lnT>
                    <a:lnB w="38160">
                      <a:solidFill>
                        <a:srgbClr val="0C343D"/>
                      </a:solidFill>
                      <a:prstDash val="soli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06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400" b="1" u="none" strike="noStrike">
                          <a:solidFill>
                            <a:srgbClr val="D6ED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Mattermost</a:t>
                      </a:r>
                      <a:endParaRPr lang="ru-RU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 marT="91080" marB="91080" anchor="ctr">
                    <a:lnL w="38160">
                      <a:solidFill>
                        <a:srgbClr val="0C343D"/>
                      </a:solidFill>
                      <a:prstDash val="solid"/>
                    </a:lnL>
                    <a:lnR w="38160">
                      <a:solidFill>
                        <a:srgbClr val="0C343D"/>
                      </a:solidFill>
                      <a:prstDash val="solid"/>
                    </a:lnR>
                    <a:lnT w="38160">
                      <a:solidFill>
                        <a:srgbClr val="0C343D"/>
                      </a:solidFill>
                      <a:prstDash val="solid"/>
                    </a:lnT>
                    <a:lnB w="38160">
                      <a:solidFill>
                        <a:srgbClr val="0C343D"/>
                      </a:solidFill>
                      <a:prstDash val="soli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300" b="0" u="none" strike="noStrike" dirty="0">
                          <a:solidFill>
                            <a:srgbClr val="D6ED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Самый близкий кандидат, однако данный продукт слишком </a:t>
                      </a:r>
                      <a:r>
                        <a:rPr lang="ru" sz="1300" b="0" u="none" strike="noStrike" dirty="0" smtClean="0">
                          <a:solidFill>
                            <a:srgbClr val="D6ED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ресурсозатратный </a:t>
                      </a:r>
                      <a:r>
                        <a:rPr lang="ru" sz="1300" b="0" u="none" strike="noStrike" dirty="0">
                          <a:solidFill>
                            <a:srgbClr val="D6ED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для </a:t>
                      </a:r>
                      <a:r>
                        <a:rPr lang="ru" sz="1300" b="0" u="none" strike="noStrike" dirty="0" smtClean="0">
                          <a:solidFill>
                            <a:srgbClr val="D6ED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установки/поддержки. Содержит избыточно</a:t>
                      </a:r>
                      <a:r>
                        <a:rPr lang="ru" sz="1300" b="0" u="none" strike="noStrike" baseline="0" dirty="0" smtClean="0">
                          <a:solidFill>
                            <a:srgbClr val="D6ED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много</a:t>
                      </a:r>
                      <a:r>
                        <a:rPr lang="ru" sz="1300" b="0" u="none" strike="noStrike" dirty="0" smtClean="0">
                          <a:solidFill>
                            <a:srgbClr val="D6ED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</a:t>
                      </a:r>
                      <a:r>
                        <a:rPr lang="ru" sz="1300" b="0" u="none" strike="noStrike" dirty="0">
                          <a:solidFill>
                            <a:srgbClr val="D6ED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ненужного для диспетчеров функционала. Так же </a:t>
                      </a:r>
                      <a:r>
                        <a:rPr lang="ru" sz="1300" b="0" u="none" strike="noStrike" dirty="0" smtClean="0">
                          <a:solidFill>
                            <a:srgbClr val="D6ED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требуется </a:t>
                      </a:r>
                      <a:r>
                        <a:rPr lang="ru" sz="1300" b="0" u="none" strike="noStrike" dirty="0">
                          <a:solidFill>
                            <a:srgbClr val="D6ED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интернет для проверки Enterprise лицензии.</a:t>
                      </a:r>
                      <a:endParaRPr lang="ru-RU" sz="13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 marT="91080" marB="91080">
                    <a:lnL w="38160">
                      <a:solidFill>
                        <a:srgbClr val="0C343D"/>
                      </a:solidFill>
                      <a:prstDash val="solid"/>
                    </a:lnL>
                    <a:lnR w="38160">
                      <a:solidFill>
                        <a:srgbClr val="0C343D"/>
                      </a:solidFill>
                      <a:prstDash val="solid"/>
                    </a:lnR>
                    <a:lnT w="38160">
                      <a:solidFill>
                        <a:srgbClr val="0C343D"/>
                      </a:solidFill>
                      <a:prstDash val="solid"/>
                    </a:lnT>
                    <a:lnB w="38160">
                      <a:solidFill>
                        <a:srgbClr val="0C343D"/>
                      </a:solidFill>
                      <a:prstDash val="soli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878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400" b="1" u="none" strike="noStrike">
                          <a:solidFill>
                            <a:srgbClr val="D6ED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Matrix/Element</a:t>
                      </a:r>
                      <a:endParaRPr lang="ru-RU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 marT="91080" marB="91080" anchor="ctr">
                    <a:lnL w="38160">
                      <a:solidFill>
                        <a:srgbClr val="0C343D"/>
                      </a:solidFill>
                      <a:prstDash val="solid"/>
                    </a:lnL>
                    <a:lnR w="38160">
                      <a:solidFill>
                        <a:srgbClr val="0C343D"/>
                      </a:solidFill>
                      <a:prstDash val="solid"/>
                    </a:lnR>
                    <a:lnT w="38160">
                      <a:solidFill>
                        <a:srgbClr val="0C343D"/>
                      </a:solidFill>
                      <a:prstDash val="solid"/>
                    </a:lnT>
                    <a:lnB w="38160">
                      <a:solidFill>
                        <a:srgbClr val="0C343D"/>
                      </a:solidFill>
                      <a:prstDash val="soli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ru" sz="1300" b="0" u="none" strike="noStrike" dirty="0">
                          <a:solidFill>
                            <a:srgbClr val="D6EDFF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По своей сути предназначены для открытого интернета и межорганизационного общения. Трудно поддерживать в оффлайне, а также ресурсоёмкий.</a:t>
                      </a:r>
                      <a:endParaRPr lang="ru-RU" sz="13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 marT="91080" marB="91080">
                    <a:lnL w="38160">
                      <a:solidFill>
                        <a:srgbClr val="0C343D"/>
                      </a:solidFill>
                      <a:prstDash val="solid"/>
                    </a:lnL>
                    <a:lnR w="38160">
                      <a:solidFill>
                        <a:srgbClr val="0C343D"/>
                      </a:solidFill>
                      <a:prstDash val="solid"/>
                    </a:lnR>
                    <a:lnT w="38160">
                      <a:solidFill>
                        <a:srgbClr val="0C343D"/>
                      </a:solidFill>
                      <a:prstDash val="solid"/>
                    </a:lnT>
                    <a:lnB w="38160">
                      <a:solidFill>
                        <a:srgbClr val="0C343D"/>
                      </a:solidFill>
                      <a:prstDash val="soli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64;p29"/>
          <p:cNvSpPr/>
          <p:nvPr/>
        </p:nvSpPr>
        <p:spPr>
          <a:xfrm>
            <a:off x="278280" y="317880"/>
            <a:ext cx="2737440" cy="53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3000" b="1" u="none" strike="noStrike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Проблема </a:t>
            </a:r>
            <a:endParaRPr lang="ru-RU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Google Shape;165;p29"/>
          <p:cNvSpPr/>
          <p:nvPr/>
        </p:nvSpPr>
        <p:spPr>
          <a:xfrm>
            <a:off x="333000" y="1361160"/>
            <a:ext cx="1496880" cy="23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Google Shape;166;p29"/>
          <p:cNvSpPr/>
          <p:nvPr/>
        </p:nvSpPr>
        <p:spPr>
          <a:xfrm>
            <a:off x="469800" y="1264680"/>
            <a:ext cx="1462320" cy="564480"/>
          </a:xfrm>
          <a:prstGeom prst="roundRect">
            <a:avLst>
              <a:gd name="adj" fmla="val 16667"/>
            </a:avLst>
          </a:prstGeom>
          <a:solidFill>
            <a:srgbClr val="D6EDFF"/>
          </a:solidFill>
          <a:ln w="7150">
            <a:solidFill>
              <a:srgbClr val="D6ED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68400" rIns="68400" bIns="684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ru" sz="1600" b="0" u="none" strike="noStrike" dirty="0">
                <a:solidFill>
                  <a:srgbClr val="073763"/>
                </a:solidFill>
                <a:effectLst/>
                <a:uFillTx/>
                <a:latin typeface="Arial"/>
                <a:ea typeface="Arial"/>
              </a:rPr>
              <a:t>У кого</a:t>
            </a:r>
            <a:endParaRPr lang="ru-RU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Google Shape;167;p29"/>
          <p:cNvSpPr/>
          <p:nvPr/>
        </p:nvSpPr>
        <p:spPr>
          <a:xfrm>
            <a:off x="469800" y="1977840"/>
            <a:ext cx="1462320" cy="564480"/>
          </a:xfrm>
          <a:prstGeom prst="roundRect">
            <a:avLst>
              <a:gd name="adj" fmla="val 16667"/>
            </a:avLst>
          </a:prstGeom>
          <a:solidFill>
            <a:srgbClr val="D6EDFF"/>
          </a:solidFill>
          <a:ln w="7150">
            <a:solidFill>
              <a:srgbClr val="D6ED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68400" rIns="68400" bIns="684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ru" sz="1500" dirty="0">
                <a:solidFill>
                  <a:srgbClr val="073763"/>
                </a:solidFill>
                <a:latin typeface="Arial"/>
                <a:ea typeface="Arial"/>
              </a:rPr>
              <a:t>Е</a:t>
            </a:r>
            <a:r>
              <a:rPr lang="ru" sz="1500" b="0" u="none" strike="noStrike" dirty="0" smtClean="0">
                <a:solidFill>
                  <a:srgbClr val="073763"/>
                </a:solidFill>
                <a:effectLst/>
                <a:uFillTx/>
                <a:latin typeface="Arial"/>
                <a:ea typeface="Arial"/>
              </a:rPr>
              <a:t>сть </a:t>
            </a:r>
            <a:r>
              <a:rPr lang="ru" sz="1500" b="0" u="none" strike="noStrike" dirty="0">
                <a:solidFill>
                  <a:srgbClr val="073763"/>
                </a:solidFill>
                <a:effectLst/>
                <a:uFillTx/>
                <a:latin typeface="Arial"/>
                <a:ea typeface="Arial"/>
              </a:rPr>
              <a:t>потребность</a:t>
            </a:r>
            <a:endParaRPr lang="ru-RU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Google Shape;168;p29"/>
          <p:cNvSpPr/>
          <p:nvPr/>
        </p:nvSpPr>
        <p:spPr>
          <a:xfrm>
            <a:off x="469800" y="2645640"/>
            <a:ext cx="1462320" cy="564480"/>
          </a:xfrm>
          <a:prstGeom prst="roundRect">
            <a:avLst>
              <a:gd name="adj" fmla="val 16667"/>
            </a:avLst>
          </a:prstGeom>
          <a:solidFill>
            <a:srgbClr val="D6EDFF"/>
          </a:solidFill>
          <a:ln w="7150">
            <a:solidFill>
              <a:srgbClr val="D6ED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68400" rIns="68400" bIns="684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ru" sz="1400" dirty="0">
                <a:solidFill>
                  <a:srgbClr val="073763"/>
                </a:solidFill>
                <a:latin typeface="Arial"/>
                <a:ea typeface="Arial"/>
              </a:rPr>
              <a:t>Н</a:t>
            </a:r>
            <a:r>
              <a:rPr lang="ru" sz="1400" b="0" u="none" strike="noStrike" dirty="0" smtClean="0">
                <a:solidFill>
                  <a:srgbClr val="073763"/>
                </a:solidFill>
                <a:effectLst/>
                <a:uFillTx/>
                <a:latin typeface="Arial"/>
                <a:ea typeface="Arial"/>
              </a:rPr>
              <a:t>о </a:t>
            </a:r>
            <a:r>
              <a:rPr lang="ru" sz="1400" b="0" u="none" strike="noStrike" dirty="0">
                <a:solidFill>
                  <a:srgbClr val="073763"/>
                </a:solidFill>
                <a:effectLst/>
                <a:uFillTx/>
                <a:latin typeface="Arial"/>
                <a:ea typeface="Arial"/>
              </a:rPr>
              <a:t>что-то ему мешает</a:t>
            </a:r>
            <a:endParaRPr lang="ru-RU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Google Shape;169;p29"/>
          <p:cNvSpPr/>
          <p:nvPr/>
        </p:nvSpPr>
        <p:spPr>
          <a:xfrm>
            <a:off x="469800" y="3313800"/>
            <a:ext cx="1462320" cy="564480"/>
          </a:xfrm>
          <a:prstGeom prst="roundRect">
            <a:avLst>
              <a:gd name="adj" fmla="val 16667"/>
            </a:avLst>
          </a:prstGeom>
          <a:solidFill>
            <a:srgbClr val="D6EDFF"/>
          </a:solidFill>
          <a:ln w="7150">
            <a:solidFill>
              <a:srgbClr val="D6ED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68400" rIns="68400" bIns="684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ru" sz="900" dirty="0" smtClean="0">
                <a:solidFill>
                  <a:srgbClr val="073763"/>
                </a:solidFill>
                <a:latin typeface="Arial"/>
                <a:ea typeface="Arial"/>
              </a:rPr>
              <a:t>И</a:t>
            </a:r>
            <a:r>
              <a:rPr lang="ru" sz="900" b="0" u="none" strike="noStrike" dirty="0" smtClean="0">
                <a:solidFill>
                  <a:srgbClr val="073763"/>
                </a:solidFill>
                <a:effectLst/>
                <a:uFillTx/>
                <a:latin typeface="Arial"/>
                <a:ea typeface="Arial"/>
              </a:rPr>
              <a:t>меющиеся </a:t>
            </a:r>
            <a:r>
              <a:rPr lang="ru" sz="900" b="0" u="none" strike="noStrike" dirty="0">
                <a:solidFill>
                  <a:srgbClr val="073763"/>
                </a:solidFill>
                <a:effectLst/>
                <a:uFillTx/>
                <a:latin typeface="Arial"/>
                <a:ea typeface="Arial"/>
              </a:rPr>
              <a:t>решения не подходят, потому что…</a:t>
            </a:r>
            <a:endParaRPr lang="ru-RU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Google Shape;170;p29"/>
          <p:cNvSpPr/>
          <p:nvPr/>
        </p:nvSpPr>
        <p:spPr>
          <a:xfrm>
            <a:off x="2019600" y="1264680"/>
            <a:ext cx="6757200" cy="56448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7150">
            <a:solidFill>
              <a:srgbClr val="A4C2F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68400" rIns="68400" bIns="684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200" b="0" u="none" strike="noStrike" dirty="0">
                <a:solidFill>
                  <a:srgbClr val="073763"/>
                </a:solidFill>
                <a:effectLst/>
                <a:uFillTx/>
                <a:latin typeface="Arial"/>
                <a:ea typeface="Arial"/>
              </a:rPr>
              <a:t>У </a:t>
            </a:r>
            <a:r>
              <a:rPr lang="ru" sz="1200" b="0" u="none" strike="noStrike" dirty="0" smtClean="0">
                <a:solidFill>
                  <a:srgbClr val="073763"/>
                </a:solidFill>
                <a:effectLst/>
                <a:uFillTx/>
                <a:latin typeface="Arial"/>
                <a:ea typeface="Arial"/>
              </a:rPr>
              <a:t>диспетчеров.</a:t>
            </a:r>
            <a:endParaRPr lang="ru-RU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Google Shape;171;p29"/>
          <p:cNvSpPr/>
          <p:nvPr/>
        </p:nvSpPr>
        <p:spPr>
          <a:xfrm>
            <a:off x="2019600" y="1955160"/>
            <a:ext cx="6757200" cy="56448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7150">
            <a:solidFill>
              <a:srgbClr val="A4C2F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68400" rIns="68400" bIns="68400" anchor="ctr">
            <a:noAutofit/>
          </a:bodyPr>
          <a:lstStyle/>
          <a:p>
            <a:pPr algn="just">
              <a:lnSpc>
                <a:spcPct val="100000"/>
              </a:lnSpc>
              <a:tabLst>
                <a:tab pos="0" algn="l"/>
              </a:tabLst>
            </a:pPr>
            <a:r>
              <a:rPr lang="ru" sz="1200" b="0" u="none" strike="noStrike" dirty="0">
                <a:solidFill>
                  <a:srgbClr val="073763"/>
                </a:solidFill>
                <a:effectLst/>
                <a:uFillTx/>
                <a:latin typeface="Arial"/>
                <a:ea typeface="Arial"/>
              </a:rPr>
              <a:t>Есть потребность в быстром, безопасном и удобном обмене сообщениями и рабочими </a:t>
            </a:r>
            <a:r>
              <a:rPr lang="ru" sz="1200" b="0" u="none" strike="noStrike" dirty="0" smtClean="0">
                <a:solidFill>
                  <a:srgbClr val="073763"/>
                </a:solidFill>
                <a:effectLst/>
                <a:uFillTx/>
                <a:latin typeface="Arial"/>
                <a:ea typeface="Arial"/>
              </a:rPr>
              <a:t>данными.</a:t>
            </a:r>
            <a:endParaRPr lang="ru-RU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Google Shape;172;p29"/>
          <p:cNvSpPr/>
          <p:nvPr/>
        </p:nvSpPr>
        <p:spPr>
          <a:xfrm>
            <a:off x="2019600" y="2645640"/>
            <a:ext cx="6757200" cy="56448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7150">
            <a:solidFill>
              <a:srgbClr val="A4C2F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68400" rIns="68400" bIns="68400" anchor="ctr">
            <a:noAutofit/>
          </a:bodyPr>
          <a:lstStyle/>
          <a:p>
            <a:pPr algn="just">
              <a:lnSpc>
                <a:spcPct val="100000"/>
              </a:lnSpc>
              <a:tabLst>
                <a:tab pos="0" algn="l"/>
              </a:tabLst>
            </a:pPr>
            <a:r>
              <a:rPr lang="ru" sz="1200" dirty="0" smtClean="0">
                <a:solidFill>
                  <a:srgbClr val="073763"/>
                </a:solidFill>
                <a:latin typeface="Arial"/>
                <a:ea typeface="Arial"/>
              </a:rPr>
              <a:t>М</a:t>
            </a:r>
            <a:r>
              <a:rPr lang="ru" sz="1200" b="0" u="none" strike="noStrike" dirty="0" smtClean="0">
                <a:solidFill>
                  <a:srgbClr val="073763"/>
                </a:solidFill>
                <a:effectLst/>
                <a:uFillTx/>
                <a:latin typeface="Arial"/>
                <a:ea typeface="Arial"/>
              </a:rPr>
              <a:t>ешает </a:t>
            </a:r>
            <a:r>
              <a:rPr lang="ru" sz="1200" b="0" u="none" strike="noStrike" dirty="0">
                <a:solidFill>
                  <a:srgbClr val="073763"/>
                </a:solidFill>
                <a:effectLst/>
                <a:uFillTx/>
                <a:latin typeface="Arial"/>
                <a:ea typeface="Arial"/>
              </a:rPr>
              <a:t>отсутствие подходящего инструмента внутри корпоративной </a:t>
            </a:r>
            <a:r>
              <a:rPr lang="ru" sz="1200" b="0" u="none" strike="noStrike" dirty="0" smtClean="0">
                <a:solidFill>
                  <a:srgbClr val="073763"/>
                </a:solidFill>
                <a:effectLst/>
                <a:uFillTx/>
                <a:latin typeface="Arial"/>
                <a:ea typeface="Arial"/>
              </a:rPr>
              <a:t>сети.</a:t>
            </a:r>
            <a:endParaRPr lang="ru-RU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Google Shape;173;p29"/>
          <p:cNvSpPr/>
          <p:nvPr/>
        </p:nvSpPr>
        <p:spPr>
          <a:xfrm>
            <a:off x="2019600" y="3313800"/>
            <a:ext cx="6757200" cy="56448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7150">
            <a:solidFill>
              <a:srgbClr val="A4C2F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68400" rIns="68400" bIns="68400" anchor="ctr">
            <a:noAutofit/>
          </a:bodyPr>
          <a:lstStyle/>
          <a:p>
            <a:pPr algn="just">
              <a:lnSpc>
                <a:spcPct val="100000"/>
              </a:lnSpc>
              <a:tabLst>
                <a:tab pos="0" algn="l"/>
              </a:tabLst>
            </a:pPr>
            <a:r>
              <a:rPr lang="ru" sz="1200" b="0" u="none" strike="noStrike" dirty="0">
                <a:solidFill>
                  <a:srgbClr val="073763"/>
                </a:solidFill>
                <a:effectLst/>
                <a:uFillTx/>
                <a:latin typeface="Arial"/>
                <a:ea typeface="Arial"/>
              </a:rPr>
              <a:t>Публичные мессенджеры не обеспечивают конфиденциальность, нарушают требования ИБ и не могут функционировать в закрытом контуре без подключения к интернету.</a:t>
            </a:r>
            <a:endParaRPr lang="ru-RU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78;p30"/>
          <p:cNvSpPr/>
          <p:nvPr/>
        </p:nvSpPr>
        <p:spPr>
          <a:xfrm>
            <a:off x="360000" y="348480"/>
            <a:ext cx="4314600" cy="53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3000" b="1" u="none" strike="noStrike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Цель и задачи</a:t>
            </a:r>
            <a:endParaRPr lang="ru-RU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179;p30"/>
          <p:cNvSpPr/>
          <p:nvPr/>
        </p:nvSpPr>
        <p:spPr>
          <a:xfrm>
            <a:off x="360000" y="1232280"/>
            <a:ext cx="7851240" cy="117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 algn="just">
              <a:lnSpc>
                <a:spcPct val="100000"/>
              </a:lnSpc>
              <a:tabLst>
                <a:tab pos="0" algn="l"/>
              </a:tabLst>
            </a:pPr>
            <a:r>
              <a:rPr lang="ru" sz="1800" b="1" u="none" strike="noStrike" dirty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Цель:</a:t>
            </a:r>
            <a:r>
              <a:rPr lang="ru" sz="1800" b="0" u="none" strike="noStrike" dirty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 Разработать систему корпоративного мессенджера «ШИФР-СВЯЗЬ» на базе self-hosted сервера для диспетчеров. Система должна обеспечить быстрый обмен текстовыми и мультимедийными данными в изолированной локальной сети без подключения к </a:t>
            </a:r>
            <a:r>
              <a:rPr lang="ru" sz="1800" b="0" u="none" strike="noStrike" dirty="0" smtClean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сети Интернет</a:t>
            </a:r>
            <a:r>
              <a:rPr lang="ru" sz="1800" b="0" u="none" strike="noStrike" dirty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ru-RU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180;p30"/>
          <p:cNvSpPr/>
          <p:nvPr/>
        </p:nvSpPr>
        <p:spPr>
          <a:xfrm>
            <a:off x="360000" y="2409840"/>
            <a:ext cx="7851240" cy="240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800" b="1" u="none" strike="noStrike" dirty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Задачи: </a:t>
            </a:r>
            <a:endParaRPr lang="ru-RU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100000"/>
              </a:lnSpc>
              <a:tabLst>
                <a:tab pos="0" algn="l"/>
              </a:tabLst>
            </a:pPr>
            <a:r>
              <a:rPr lang="ru" sz="1800" b="0" u="none" strike="noStrike" dirty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1. Провести детальный сбор требований (UX/UI, функционал, протоколы шифрования, архитектура изоляции).</a:t>
            </a:r>
            <a:endParaRPr lang="ru-RU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100000"/>
              </a:lnSpc>
              <a:tabLst>
                <a:tab pos="0" algn="l"/>
              </a:tabLst>
            </a:pPr>
            <a:r>
              <a:rPr lang="ru" sz="1800" b="0" u="none" strike="noStrike" dirty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2. Спроектировать архитектуру self-hosted сервера, способного работать в полностью изолированной локальной сети без шлюзов в </a:t>
            </a:r>
            <a:r>
              <a:rPr lang="ru" sz="1800" b="0" u="none" strike="noStrike" dirty="0" smtClean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интернет.</a:t>
            </a:r>
            <a:endParaRPr lang="ru-RU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algn="just">
              <a:lnSpc>
                <a:spcPct val="100000"/>
              </a:lnSpc>
              <a:tabLst>
                <a:tab pos="0" algn="l"/>
              </a:tabLst>
            </a:pPr>
            <a:r>
              <a:rPr lang="ru" sz="1800" b="0" u="none" strike="noStrike" dirty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3. Разработать удобные для диспетчеров клиентские приложения для работы с внутренним сервером.</a:t>
            </a:r>
            <a:endParaRPr lang="ru-RU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85;p31"/>
          <p:cNvSpPr/>
          <p:nvPr/>
        </p:nvSpPr>
        <p:spPr>
          <a:xfrm>
            <a:off x="360000" y="348480"/>
            <a:ext cx="7851240" cy="53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3000" b="1" u="none" strike="noStrike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Требования к решению</a:t>
            </a:r>
            <a:endParaRPr lang="ru-RU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186;p31"/>
          <p:cNvSpPr/>
          <p:nvPr/>
        </p:nvSpPr>
        <p:spPr>
          <a:xfrm>
            <a:off x="360000" y="1117080"/>
            <a:ext cx="7851240" cy="145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800" b="1" u="none" strike="noStrike" dirty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Решение должно:</a:t>
            </a:r>
            <a:endParaRPr lang="ru-RU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 algn="just">
              <a:lnSpc>
                <a:spcPct val="100000"/>
              </a:lnSpc>
              <a:buClr>
                <a:srgbClr val="D6EDFF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ru" sz="1800" b="0" u="none" strike="noStrike" dirty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Работать полностью автономно без подключения к </a:t>
            </a:r>
            <a:r>
              <a:rPr lang="ru" sz="1800" b="0" u="none" strike="noStrike" dirty="0" smtClean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Интернету.</a:t>
            </a:r>
            <a:endParaRPr lang="ru-RU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 algn="just">
              <a:lnSpc>
                <a:spcPct val="100000"/>
              </a:lnSpc>
              <a:buClr>
                <a:srgbClr val="D6EDFF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ru" sz="1800" b="0" u="none" strike="noStrike" dirty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Быть удобным для пользователей и специализированным под задачи </a:t>
            </a:r>
            <a:r>
              <a:rPr lang="ru" sz="1800" b="0" u="none" strike="noStrike" dirty="0" smtClean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диспетчеров.</a:t>
            </a:r>
            <a:endParaRPr lang="ru-RU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 algn="just">
              <a:lnSpc>
                <a:spcPct val="100000"/>
              </a:lnSpc>
              <a:buClr>
                <a:srgbClr val="D6EDFF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ru" sz="1800" b="0" u="none" strike="noStrike" dirty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Достаточно безопасным для использования внутри </a:t>
            </a:r>
            <a:r>
              <a:rPr lang="ru" sz="1800" b="0" u="none" strike="noStrike" dirty="0" smtClean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компании.</a:t>
            </a:r>
            <a:endParaRPr lang="ru-RU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187;p31"/>
          <p:cNvSpPr/>
          <p:nvPr/>
        </p:nvSpPr>
        <p:spPr>
          <a:xfrm>
            <a:off x="360000" y="2809080"/>
            <a:ext cx="7851240" cy="184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800" b="1" u="none" strike="noStrike" dirty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Решение должно выполнять функции: </a:t>
            </a:r>
            <a:endParaRPr lang="ru-RU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 algn="just">
              <a:lnSpc>
                <a:spcPct val="100000"/>
              </a:lnSpc>
              <a:buClr>
                <a:srgbClr val="D6EDFF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ru" sz="1800" b="0" u="none" strike="noStrike" dirty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Быстрый обмен сообщениями (текстовые + </a:t>
            </a:r>
            <a:r>
              <a:rPr lang="ru" sz="1800" b="0" u="none" strike="noStrike" dirty="0" smtClean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файлы).</a:t>
            </a:r>
            <a:endParaRPr lang="ru-RU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 algn="just">
              <a:lnSpc>
                <a:spcPct val="100000"/>
              </a:lnSpc>
              <a:buClr>
                <a:srgbClr val="D6EDFF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ru" sz="1800" b="0" u="none" strike="noStrike" dirty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Организация различных групп, с разными привилегиями для </a:t>
            </a:r>
            <a:r>
              <a:rPr lang="ru" sz="1800" b="0" u="none" strike="noStrike" dirty="0" smtClean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пользователей.</a:t>
            </a:r>
            <a:endParaRPr lang="ru-RU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 algn="just">
              <a:lnSpc>
                <a:spcPct val="100000"/>
              </a:lnSpc>
              <a:buClr>
                <a:srgbClr val="D6EDFF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ru" sz="1800" b="0" u="none" strike="noStrike" dirty="0" smtClean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Шифрование сообщений.</a:t>
            </a:r>
            <a:endParaRPr lang="ru-RU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 algn="just">
              <a:lnSpc>
                <a:spcPct val="100000"/>
              </a:lnSpc>
              <a:buClr>
                <a:srgbClr val="D6EDFF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ru" sz="1800" b="0" u="none" strike="noStrike" dirty="0" smtClean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Быстрое отправление </a:t>
            </a:r>
            <a:r>
              <a:rPr lang="ru" sz="1800" b="0" u="none" strike="noStrike" dirty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частых </a:t>
            </a:r>
            <a:r>
              <a:rPr lang="ru" sz="1800" b="0" u="none" strike="noStrike" dirty="0" smtClean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сообщений.</a:t>
            </a:r>
            <a:endParaRPr lang="ru-RU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92;p32"/>
          <p:cNvSpPr/>
          <p:nvPr/>
        </p:nvSpPr>
        <p:spPr>
          <a:xfrm>
            <a:off x="360000" y="348480"/>
            <a:ext cx="7851240" cy="53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3000" b="1" u="none" strike="noStrike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Архитектура решения</a:t>
            </a:r>
            <a:endParaRPr lang="ru-RU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Google Shape;193;p32"/>
          <p:cNvSpPr/>
          <p:nvPr/>
        </p:nvSpPr>
        <p:spPr>
          <a:xfrm>
            <a:off x="360000" y="740160"/>
            <a:ext cx="7851240" cy="34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800" b="0" u="none" strike="noStrike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Клиент-серверная архитектура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Google Shape;194;p32"/>
          <p:cNvSpPr/>
          <p:nvPr/>
        </p:nvSpPr>
        <p:spPr>
          <a:xfrm>
            <a:off x="360000" y="1317240"/>
            <a:ext cx="3814560" cy="46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ru" sz="1800" b="0" u="none" strike="noStrike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Серверная часть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Google Shape;195;p32"/>
          <p:cNvSpPr/>
          <p:nvPr/>
        </p:nvSpPr>
        <p:spPr>
          <a:xfrm>
            <a:off x="4572000" y="1317240"/>
            <a:ext cx="3814560" cy="46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ru" sz="1800" b="0" u="none" strike="noStrike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Клиентская часть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8" name="Google Shape;196;p32"/>
          <p:cNvPicPr/>
          <p:nvPr/>
        </p:nvPicPr>
        <p:blipFill>
          <a:blip r:embed="rId3"/>
          <a:stretch/>
        </p:blipFill>
        <p:spPr>
          <a:xfrm>
            <a:off x="290825" y="2132291"/>
            <a:ext cx="571320" cy="571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29" name="Google Shape;197;p32"/>
          <p:cNvGrpSpPr/>
          <p:nvPr/>
        </p:nvGrpSpPr>
        <p:grpSpPr>
          <a:xfrm>
            <a:off x="-163352" y="2810891"/>
            <a:ext cx="1534953" cy="895200"/>
            <a:chOff x="-170280" y="2381400"/>
            <a:chExt cx="1839960" cy="1034640"/>
          </a:xfrm>
        </p:grpSpPr>
        <p:pic>
          <p:nvPicPr>
            <p:cNvPr id="130" name="Google Shape;198;p32"/>
            <p:cNvPicPr/>
            <p:nvPr/>
          </p:nvPicPr>
          <p:blipFill>
            <a:blip r:embed="rId4" cstate="print"/>
            <a:stretch/>
          </p:blipFill>
          <p:spPr>
            <a:xfrm>
              <a:off x="-170280" y="2381400"/>
              <a:ext cx="1839960" cy="1034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1" name="Google Shape;199;p32"/>
            <p:cNvPicPr/>
            <p:nvPr/>
          </p:nvPicPr>
          <p:blipFill>
            <a:blip r:embed="rId5" cstate="print"/>
            <a:stretch/>
          </p:blipFill>
          <p:spPr>
            <a:xfrm>
              <a:off x="196200" y="2636280"/>
              <a:ext cx="1106640" cy="5245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32" name="Google Shape;200;p32"/>
          <p:cNvSpPr/>
          <p:nvPr/>
        </p:nvSpPr>
        <p:spPr>
          <a:xfrm>
            <a:off x="360000" y="1758338"/>
            <a:ext cx="3814560" cy="46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tabLst>
                <a:tab pos="0" algn="l"/>
              </a:tabLst>
            </a:pPr>
            <a:r>
              <a:rPr lang="ru" sz="1800" b="1" u="none" strike="noStrike" dirty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InspIRCd</a:t>
            </a:r>
            <a:endParaRPr lang="ru-RU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Google Shape;201;p32"/>
          <p:cNvSpPr/>
          <p:nvPr/>
        </p:nvSpPr>
        <p:spPr>
          <a:xfrm>
            <a:off x="1219199" y="2079512"/>
            <a:ext cx="2944092" cy="6801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tIns="91440" bIns="91440" anchor="t">
            <a:spAutoFit/>
          </a:bodyPr>
          <a:lstStyle/>
          <a:p>
            <a:pPr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tabLst>
                <a:tab pos="0" algn="l"/>
              </a:tabLst>
            </a:pPr>
            <a:r>
              <a:rPr lang="ru" sz="1400" b="0" u="none" strike="noStrike" dirty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Модульный, легкий, современный </a:t>
            </a:r>
            <a:r>
              <a:rPr lang="ru" sz="1400" b="0" u="none" strike="noStrike" dirty="0" smtClean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IRC-сервер.</a:t>
            </a:r>
            <a:endParaRPr lang="ru-RU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Google Shape;202;p32"/>
          <p:cNvSpPr/>
          <p:nvPr/>
        </p:nvSpPr>
        <p:spPr>
          <a:xfrm>
            <a:off x="401563" y="2688119"/>
            <a:ext cx="3814560" cy="46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tabLst>
                <a:tab pos="0" algn="l"/>
              </a:tabLst>
            </a:pPr>
            <a:r>
              <a:rPr lang="ru" sz="1800" b="1" u="none" strike="noStrike" dirty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SQLite</a:t>
            </a:r>
            <a:endParaRPr lang="ru-RU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Google Shape;203;p32"/>
          <p:cNvSpPr/>
          <p:nvPr/>
        </p:nvSpPr>
        <p:spPr>
          <a:xfrm>
            <a:off x="1190823" y="3043571"/>
            <a:ext cx="2951685" cy="6801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tIns="91440" bIns="91440" anchor="t">
            <a:spAutoFit/>
          </a:bodyPr>
          <a:lstStyle/>
          <a:p>
            <a:pPr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tabLst>
                <a:tab pos="0" algn="l"/>
              </a:tabLst>
            </a:pPr>
            <a:r>
              <a:rPr lang="ru" sz="1400" b="0" u="none" strike="noStrike" dirty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Надёжное и лёгкое решение для  </a:t>
            </a:r>
            <a:r>
              <a:rPr lang="ru" sz="1400" b="0" u="none" strike="noStrike" dirty="0" smtClean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DB.</a:t>
            </a:r>
            <a:endParaRPr lang="ru-RU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6" name="Google Shape;204;p32"/>
          <p:cNvPicPr/>
          <p:nvPr/>
        </p:nvPicPr>
        <p:blipFill>
          <a:blip r:embed="rId6"/>
          <a:stretch/>
        </p:blipFill>
        <p:spPr>
          <a:xfrm>
            <a:off x="4458142" y="1895563"/>
            <a:ext cx="726120" cy="72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Google Shape;205;p32"/>
          <p:cNvSpPr/>
          <p:nvPr/>
        </p:nvSpPr>
        <p:spPr>
          <a:xfrm>
            <a:off x="4572000" y="1777680"/>
            <a:ext cx="3814560" cy="46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tabLst>
                <a:tab pos="0" algn="l"/>
              </a:tabLst>
            </a:pPr>
            <a:r>
              <a:rPr lang="ru" sz="1800" b="1" u="none" strike="noStrike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Next.js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Google Shape;206;p32"/>
          <p:cNvSpPr/>
          <p:nvPr/>
        </p:nvSpPr>
        <p:spPr>
          <a:xfrm>
            <a:off x="5237018" y="2078073"/>
            <a:ext cx="3149542" cy="6801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tIns="91440" bIns="91440" anchor="t">
            <a:spAutoFit/>
          </a:bodyPr>
          <a:lstStyle/>
          <a:p>
            <a:pPr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tabLst>
                <a:tab pos="0" algn="l"/>
              </a:tabLst>
            </a:pPr>
            <a:r>
              <a:rPr lang="ru" sz="1400" b="0" u="none" strike="noStrike" dirty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Современный интерфейс с server-side </a:t>
            </a:r>
            <a:r>
              <a:rPr lang="ru" sz="1400" b="0" u="none" strike="noStrike" dirty="0" smtClean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рендерингом.</a:t>
            </a:r>
            <a:endParaRPr lang="ru-RU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9" name="Google Shape;207;p32"/>
          <p:cNvPicPr/>
          <p:nvPr/>
        </p:nvPicPr>
        <p:blipFill>
          <a:blip r:embed="rId7" cstate="print"/>
          <a:stretch/>
        </p:blipFill>
        <p:spPr>
          <a:xfrm>
            <a:off x="353171" y="4020709"/>
            <a:ext cx="584640" cy="46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Google Shape;208;p32"/>
          <p:cNvSpPr/>
          <p:nvPr/>
        </p:nvSpPr>
        <p:spPr>
          <a:xfrm>
            <a:off x="436201" y="3576360"/>
            <a:ext cx="3814560" cy="46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tabLst>
                <a:tab pos="0" algn="l"/>
              </a:tabLst>
            </a:pPr>
            <a:r>
              <a:rPr lang="ru" sz="1800" b="1" u="none" strike="noStrike" dirty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Docker</a:t>
            </a:r>
            <a:endParaRPr lang="ru-RU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Google Shape;209;p32"/>
          <p:cNvSpPr/>
          <p:nvPr/>
        </p:nvSpPr>
        <p:spPr>
          <a:xfrm>
            <a:off x="1198418" y="3862899"/>
            <a:ext cx="3027218" cy="6801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tIns="91440" bIns="91440" anchor="t">
            <a:spAutoFit/>
          </a:bodyPr>
          <a:lstStyle/>
          <a:p>
            <a:pPr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tabLst>
                <a:tab pos="0" algn="l"/>
              </a:tabLst>
            </a:pPr>
            <a:r>
              <a:rPr lang="ru" sz="1400" b="0" u="none" strike="noStrike" dirty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Безопасная контейнеризация </a:t>
            </a:r>
            <a:r>
              <a:rPr lang="ru" sz="1400" b="0" u="none" strike="noStrike" dirty="0" smtClean="0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сервисов.</a:t>
            </a:r>
            <a:endParaRPr lang="ru-RU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214;p33"/>
          <p:cNvSpPr/>
          <p:nvPr/>
        </p:nvSpPr>
        <p:spPr>
          <a:xfrm>
            <a:off x="360000" y="348480"/>
            <a:ext cx="7851240" cy="53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3000" b="1" u="none" strike="noStrike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Дорожная карта</a:t>
            </a:r>
            <a:endParaRPr lang="ru-RU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Google Shape;215;p33"/>
          <p:cNvSpPr/>
          <p:nvPr/>
        </p:nvSpPr>
        <p:spPr>
          <a:xfrm>
            <a:off x="360000" y="740160"/>
            <a:ext cx="7851240" cy="34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1800" b="0" u="none" strike="noStrike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Что нам предстоит сделать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4" name="Таблица 143"/>
          <p:cNvGraphicFramePr/>
          <p:nvPr/>
        </p:nvGraphicFramePr>
        <p:xfrm>
          <a:off x="122760" y="1281600"/>
          <a:ext cx="4737240" cy="3529920"/>
        </p:xfrm>
        <a:graphic>
          <a:graphicData uri="http://schemas.openxmlformats.org/drawingml/2006/table">
            <a:tbl>
              <a:tblPr/>
              <a:tblGrid>
                <a:gridCol w="7887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8876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88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22328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14804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346320">
                <a:tc>
                  <a:txBody>
                    <a:bodyPr/>
                    <a:lstStyle/>
                    <a:p>
                      <a:pPr algn="ctr"/>
                      <a:r>
                        <a:rPr lang="ru-RU" sz="100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Этап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Недели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Статус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Содержание работ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Результат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Анализ и уточнение требований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1–5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Завершён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Cбор требований к безопасности, протоколы шифрования, требования к изоляции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ТЗ, критерии приёмки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Проектирование архитектуры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6–7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 Текущий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Выбор стека, схема БД, API, план развёртывания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Архитектурная схема, API, Docker-план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Настройка серверной части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7–9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 Запланирован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Развёртывание серверной части, интеграция с БД, аутентификация и права доступа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Работающий серверный контейнер в локальной сети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Разработка клиентского приложения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8–11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 Запланирован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Интерфейс на Next.js: чат, контакты, отправка файлов, группы, оффлайн-режим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Клиентское приложение для работы внутри сети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5" name="Таблица 144"/>
          <p:cNvGraphicFramePr/>
          <p:nvPr/>
        </p:nvGraphicFramePr>
        <p:xfrm>
          <a:off x="5109840" y="765720"/>
          <a:ext cx="3359880" cy="4063320"/>
        </p:xfrm>
        <a:graphic>
          <a:graphicData uri="http://schemas.openxmlformats.org/drawingml/2006/table">
            <a:tbl>
              <a:tblPr/>
              <a:tblGrid>
                <a:gridCol w="81288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7728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3792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1288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71892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346320">
                <a:tc>
                  <a:txBody>
                    <a:bodyPr/>
                    <a:lstStyle/>
                    <a:p>
                      <a:pPr algn="ctr"/>
                      <a:r>
                        <a:rPr lang="ru-RU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Этап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Недели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Статус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Содержание работ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</a:rPr>
                        <a:t>Результат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Интеграция и шифрование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11–12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 Запланирован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Связка клиента с сервером, базовое шифрование, передача файлов, групповые чаты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Интегрированный прототип с шифрованием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Тестирование и отладка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12–14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 Запланирован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Функциональное тестирование, исправление багов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Отчёт о тестировании, стабильный прототип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Подготовка демонстрации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15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 Запланирован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Развёртывание на изолированном стенде, сценарий демо, презентация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Демо-стенд, презентация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Защита прототипа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16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 Запланирован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Презентация, сбор обратной связи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Защита проекта, план развития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220;p34"/>
          <p:cNvSpPr/>
          <p:nvPr/>
        </p:nvSpPr>
        <p:spPr>
          <a:xfrm>
            <a:off x="360000" y="348480"/>
            <a:ext cx="7851240" cy="53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3000" b="1" u="none" strike="noStrike">
                <a:solidFill>
                  <a:srgbClr val="D6EDFF"/>
                </a:solidFill>
                <a:effectLst/>
                <a:uFillTx/>
                <a:latin typeface="Arial"/>
                <a:ea typeface="Arial"/>
              </a:rPr>
              <a:t>Команда проекта</a:t>
            </a:r>
            <a:endParaRPr lang="ru-RU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2F5F545D-ABCD-3E32-2E05-529BCB351209}"/>
              </a:ext>
            </a:extLst>
          </p:cNvPr>
          <p:cNvSpPr txBox="1"/>
          <p:nvPr/>
        </p:nvSpPr>
        <p:spPr>
          <a:xfrm>
            <a:off x="353072" y="901488"/>
            <a:ext cx="736331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rgbClr val="EEF1FF"/>
                </a:solidFill>
                <a:effectLst/>
                <a:latin typeface="Exo 2"/>
              </a:rPr>
              <a:t>Дмитрий Митрофанов</a:t>
            </a:r>
            <a:endParaRPr lang="ru-RU" b="0" i="0" dirty="0">
              <a:solidFill>
                <a:srgbClr val="EEF1FF"/>
              </a:solidFill>
              <a:effectLst/>
              <a:latin typeface="Exo 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EEF1FF"/>
                </a:solidFill>
                <a:effectLst/>
                <a:latin typeface="Exo 2"/>
              </a:rPr>
              <a:t>Лидер </a:t>
            </a:r>
            <a:r>
              <a:rPr lang="ru-RU" b="1" i="0" dirty="0" smtClean="0">
                <a:solidFill>
                  <a:srgbClr val="EEF1FF"/>
                </a:solidFill>
                <a:effectLst/>
                <a:latin typeface="Exo 2"/>
              </a:rPr>
              <a:t>проекта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EEF1FF"/>
              </a:solidFill>
              <a:effectLst/>
              <a:latin typeface="Exo 2"/>
            </a:endParaRPr>
          </a:p>
          <a:p>
            <a:pPr algn="l"/>
            <a:r>
              <a:rPr lang="ru-RU" b="1" i="0" dirty="0">
                <a:solidFill>
                  <a:srgbClr val="EEF1FF"/>
                </a:solidFill>
                <a:effectLst/>
                <a:latin typeface="Exo 2"/>
              </a:rPr>
              <a:t>Климентий Воронин</a:t>
            </a:r>
            <a:endParaRPr lang="ru-RU" b="0" i="0" dirty="0">
              <a:solidFill>
                <a:srgbClr val="EEF1FF"/>
              </a:solidFill>
              <a:effectLst/>
              <a:latin typeface="Exo 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EEF1FF"/>
                </a:solidFill>
                <a:effectLst/>
                <a:latin typeface="Exo 2"/>
              </a:rPr>
              <a:t>Разработчик</a:t>
            </a:r>
            <a:r>
              <a:rPr lang="en-US" b="1" i="0" dirty="0">
                <a:solidFill>
                  <a:srgbClr val="EEF1FF"/>
                </a:solidFill>
                <a:effectLst/>
                <a:latin typeface="Exo 2"/>
              </a:rPr>
              <a:t> ( </a:t>
            </a:r>
            <a:r>
              <a:rPr lang="ru-RU" b="1" i="0" dirty="0">
                <a:solidFill>
                  <a:srgbClr val="EEF1FF"/>
                </a:solidFill>
                <a:effectLst/>
                <a:latin typeface="Exo 2"/>
              </a:rPr>
              <a:t>ответственный за реализацию</a:t>
            </a:r>
            <a:r>
              <a:rPr lang="en-US" b="1" i="0" dirty="0">
                <a:solidFill>
                  <a:srgbClr val="EEF1FF"/>
                </a:solidFill>
                <a:effectLst/>
                <a:latin typeface="Exo 2"/>
              </a:rPr>
              <a:t> </a:t>
            </a:r>
            <a:r>
              <a:rPr lang="en-US" b="1" dirty="0">
                <a:solidFill>
                  <a:srgbClr val="EEF1FF"/>
                </a:solidFill>
                <a:latin typeface="Exo 2"/>
              </a:rPr>
              <a:t>UI </a:t>
            </a:r>
            <a:r>
              <a:rPr lang="en-US" b="1" dirty="0" smtClean="0">
                <a:solidFill>
                  <a:srgbClr val="EEF1FF"/>
                </a:solidFill>
                <a:latin typeface="Exo 2"/>
              </a:rPr>
              <a:t>)</a:t>
            </a:r>
            <a:endParaRPr lang="ru-RU" b="1" dirty="0" smtClean="0">
              <a:solidFill>
                <a:srgbClr val="EEF1FF"/>
              </a:solidFill>
              <a:latin typeface="Exo 2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EEF1FF"/>
              </a:solidFill>
              <a:effectLst/>
              <a:latin typeface="Exo 2"/>
            </a:endParaRPr>
          </a:p>
          <a:p>
            <a:pPr algn="l"/>
            <a:r>
              <a:rPr lang="ru-RU" b="1" i="0" dirty="0">
                <a:solidFill>
                  <a:srgbClr val="EEF1FF"/>
                </a:solidFill>
                <a:effectLst/>
                <a:latin typeface="Exo 2"/>
              </a:rPr>
              <a:t>Ульяна Грекова</a:t>
            </a:r>
            <a:endParaRPr lang="en-US" b="1" i="0" dirty="0">
              <a:solidFill>
                <a:srgbClr val="EEF1FF"/>
              </a:solidFill>
              <a:effectLst/>
              <a:latin typeface="Exo 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EEF1FF"/>
                </a:solidFill>
                <a:effectLst/>
                <a:latin typeface="Exo 2"/>
              </a:rPr>
              <a:t>Ответственная за презентацию и </a:t>
            </a:r>
            <a:r>
              <a:rPr lang="ru-RU" b="1" i="0" dirty="0" smtClean="0">
                <a:solidFill>
                  <a:srgbClr val="EEF1FF"/>
                </a:solidFill>
                <a:effectLst/>
                <a:latin typeface="Exo 2"/>
              </a:rPr>
              <a:t>дизайн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EEF1FF"/>
              </a:solidFill>
              <a:effectLst/>
              <a:latin typeface="Exo 2"/>
            </a:endParaRPr>
          </a:p>
          <a:p>
            <a:pPr algn="l"/>
            <a:r>
              <a:rPr lang="ru-RU" b="1" i="0" dirty="0">
                <a:solidFill>
                  <a:srgbClr val="EEF1FF"/>
                </a:solidFill>
                <a:effectLst/>
                <a:latin typeface="Exo 2"/>
              </a:rPr>
              <a:t>Даниил </a:t>
            </a:r>
            <a:r>
              <a:rPr lang="ru-RU" b="1" i="0" dirty="0" err="1">
                <a:solidFill>
                  <a:srgbClr val="EEF1FF"/>
                </a:solidFill>
                <a:effectLst/>
                <a:latin typeface="Exo 2"/>
              </a:rPr>
              <a:t>Дороднев</a:t>
            </a:r>
            <a:endParaRPr lang="ru-RU" b="0" i="0" dirty="0">
              <a:solidFill>
                <a:srgbClr val="EEF1FF"/>
              </a:solidFill>
              <a:effectLst/>
              <a:latin typeface="Exo 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EEF1FF"/>
                </a:solidFill>
                <a:effectLst/>
                <a:latin typeface="Exo 2"/>
              </a:rPr>
              <a:t>Разработчик</a:t>
            </a:r>
            <a:r>
              <a:rPr lang="en-US" b="1" i="0" dirty="0">
                <a:solidFill>
                  <a:srgbClr val="EEF1FF"/>
                </a:solidFill>
                <a:effectLst/>
                <a:latin typeface="Exo 2"/>
              </a:rPr>
              <a:t> ( </a:t>
            </a:r>
            <a:r>
              <a:rPr lang="ru-RU" b="1" i="0" dirty="0">
                <a:solidFill>
                  <a:srgbClr val="EEF1FF"/>
                </a:solidFill>
                <a:effectLst/>
                <a:latin typeface="Exo 2"/>
              </a:rPr>
              <a:t>ответственный за серверную часть </a:t>
            </a:r>
            <a:r>
              <a:rPr lang="ru-RU" b="1" i="0" dirty="0" smtClean="0">
                <a:solidFill>
                  <a:srgbClr val="EEF1FF"/>
                </a:solidFill>
                <a:effectLst/>
                <a:latin typeface="Exo 2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EEF1FF"/>
              </a:solidFill>
              <a:effectLst/>
              <a:latin typeface="Exo 2"/>
            </a:endParaRPr>
          </a:p>
          <a:p>
            <a:pPr algn="l"/>
            <a:r>
              <a:rPr lang="ru-RU" b="1" i="0" dirty="0">
                <a:solidFill>
                  <a:srgbClr val="EEF1FF"/>
                </a:solidFill>
                <a:effectLst/>
                <a:latin typeface="Exo 2"/>
              </a:rPr>
              <a:t>Александр </a:t>
            </a:r>
            <a:r>
              <a:rPr lang="ru-RU" b="1" i="0" dirty="0" err="1">
                <a:solidFill>
                  <a:srgbClr val="EEF1FF"/>
                </a:solidFill>
                <a:effectLst/>
                <a:latin typeface="Exo 2"/>
              </a:rPr>
              <a:t>Ташкаев</a:t>
            </a:r>
            <a:endParaRPr lang="ru-RU" b="0" i="0" dirty="0">
              <a:solidFill>
                <a:srgbClr val="EEF1FF"/>
              </a:solidFill>
              <a:effectLst/>
              <a:latin typeface="Exo 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EEF1FF"/>
                </a:solidFill>
                <a:effectLst/>
                <a:latin typeface="Exo 2"/>
              </a:rPr>
              <a:t>Аналитик и технический писатель</a:t>
            </a:r>
            <a:endParaRPr lang="ru-RU" b="0" i="0" dirty="0">
              <a:solidFill>
                <a:srgbClr val="EEF1FF"/>
              </a:solidFill>
              <a:effectLst/>
              <a:latin typeface="Exo 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</TotalTime>
  <Words>755</Words>
  <Application>Microsoft Macintosh PowerPoint</Application>
  <PresentationFormat>Экран (16:9)</PresentationFormat>
  <Paragraphs>142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Simple Light</vt:lpstr>
      <vt:lpstr>Тема Office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MINI</dc:creator>
  <cp:lastModifiedBy>MINI</cp:lastModifiedBy>
  <cp:revision>18</cp:revision>
  <dcterms:modified xsi:type="dcterms:W3CDTF">2026-10-11T13:43:25Z</dcterms:modified>
  <dc:language>ru-RU</dc:language>
</cp:coreProperties>
</file>