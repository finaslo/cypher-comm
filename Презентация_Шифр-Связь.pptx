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0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9999"/>
          </a:bodyPr>
          <a:lstStyle>
            <a:lvl1pPr indent="0" algn="l">
              <a:buNone/>
              <a:defRPr lang="ru-RU" sz="5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5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68191B3-DCD7-4FFE-BBA1-659DB848608D}" type="slidenum">
              <a: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 hasCustomPrompt="1"/>
          </p:nvPr>
        </p:nvSpPr>
        <p:spPr>
          <a:xfrm>
            <a:off x="311760" y="1106280"/>
            <a:ext cx="8520120" cy="19630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lnSpcReduction="9999"/>
          </a:bodyPr>
          <a:lstStyle>
            <a:lvl1pPr indent="0" algn="ctr">
              <a:lnSpc>
                <a:spcPct val="100000"/>
              </a:lnSpc>
              <a:buNone/>
              <a:defRPr lang="ru-RU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r>
              <a:rPr lang="ru-RU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xx%</a:t>
            </a:r>
            <a:endParaRPr lang="ru-RU" sz="1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311760" y="3152160"/>
            <a:ext cx="8520120" cy="130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4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5667BCD-3BFA-480C-A28B-966C2E54D836}" type="slidenum">
              <a: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0818501-A27A-458E-BF22-953334FECE3B}" type="slidenum">
              <a: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311760" y="2151000"/>
            <a:ext cx="8520120" cy="84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77500" lnSpcReduction="19999"/>
          </a:bodyPr>
          <a:lstStyle>
            <a:lvl1pPr indent="0" algn="l">
              <a:buNone/>
              <a:defRPr lang="ru-RU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B8FE030-CC6B-46BA-A6D4-EB6A6B90B82A}" type="slidenum">
              <a: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>
            <a:lvl1pPr indent="0" algn="l">
              <a:buNone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0084CD2-730C-43C8-9033-AA08A224AE3C}" type="slidenum">
              <a: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>
            <a:lvl1pPr indent="0" algn="l">
              <a:buNone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85000" lnSpcReduction="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049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049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049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83228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85000" lnSpcReduction="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049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049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049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459F819-428D-4AF6-AD27-AA6A0CABBEA6}" type="slidenum">
              <a: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>
            <a:lvl1pPr indent="0" algn="l">
              <a:buNone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C6F1B77-6FEE-4EE7-B3FD-D950F572B7DD}" type="slidenum">
              <a: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311760" y="555480"/>
            <a:ext cx="2807640" cy="755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62500" lnSpcReduction="19999"/>
          </a:bodyPr>
          <a:lstStyle>
            <a:lvl1pPr indent="0" algn="l">
              <a:buNone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311760" y="1389600"/>
            <a:ext cx="280764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049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049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049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049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4941799-E6F5-49D9-BFAC-E626D1518839}" type="slidenum">
              <a: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90320" y="450000"/>
            <a:ext cx="6367320" cy="409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l">
              <a:buNone/>
              <a:defRPr lang="ru-RU" sz="4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4D8FBA8-3C4E-4A9C-BF5F-A19430B20E33}" type="slidenum">
              <a: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36;p9"/>
          <p:cNvSpPr/>
          <p:nvPr/>
        </p:nvSpPr>
        <p:spPr>
          <a:xfrm>
            <a:off x="4572000" y="0"/>
            <a:ext cx="4571640" cy="51433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265680" y="1233000"/>
            <a:ext cx="4044960" cy="1482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77500" lnSpcReduction="19999"/>
          </a:bodyPr>
          <a:lstStyle>
            <a:lvl1pPr indent="0" algn="l">
              <a:buNone/>
              <a:defRPr lang="ru-RU" sz="4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939560" y="723960"/>
            <a:ext cx="3836520" cy="3694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7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47E5E4C-3046-4AA7-939A-90B7C86407C7}" type="slidenum">
              <a: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body"/>
          </p:nvPr>
        </p:nvSpPr>
        <p:spPr>
          <a:xfrm>
            <a:off x="311760" y="4230720"/>
            <a:ext cx="5998320" cy="604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F31EDB8-F360-4B3D-88BD-4DE4B1BFE9A9}" type="slidenum">
              <a:rPr lang="ru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2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3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4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C1ACF37-BB56-4F88-AB24-30A1ED60376B}" type="slidenum">
              <a: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&lt;номер&gt;</a:t>
            </a:fld>
            <a:endParaRPr lang="ru-RU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VERTICAL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rmAutofit lnSpcReduction="9999"/>
          </a:bodyPr>
          <a:lstStyle>
            <a:lvl1pPr indent="0" algn="l">
              <a:buNone/>
              <a:def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 rot="5400000">
            <a:off x="2940480" y="-942480"/>
            <a:ext cx="3263040" cy="788652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15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16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17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ED77D15-A1E9-47A8-986B-BAF90BC6E10A}" type="slidenum">
              <a: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&lt;номер&gt;</a:t>
            </a:fld>
            <a:endParaRPr lang="ru-RU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_TITLE_AND_VERTICAL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 rot="5400000">
            <a:off x="5350320" y="1467360"/>
            <a:ext cx="4358520" cy="197136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rmAutofit/>
          </a:bodyPr>
          <a:lstStyle>
            <a:lvl1pPr indent="0" algn="l">
              <a:buNone/>
              <a:def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 rot="5400000">
            <a:off x="1349640" y="-446760"/>
            <a:ext cx="4358520" cy="580032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18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19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0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EA18C83-6EB6-4531-80C0-F24B9FA122E2}" type="slidenum">
              <a: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&lt;номер&gt;</a:t>
            </a:fld>
            <a:endParaRPr lang="ru-RU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b">
            <a:normAutofit fontScale="85000" lnSpcReduction="9999"/>
          </a:bodyPr>
          <a:lstStyle>
            <a:lvl1pPr indent="0" algn="l">
              <a:buNone/>
              <a:defRPr lang="ru-RU" sz="4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4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1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2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3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35E3B16-131A-40E8-AA24-7187AC5E3448}" type="slidenum">
              <a: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&lt;номер&gt;</a:t>
            </a:fld>
            <a:endParaRPr lang="ru-RU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rmAutofit lnSpcReduction="9999"/>
          </a:bodyPr>
          <a:lstStyle>
            <a:lvl1pPr indent="0" algn="l">
              <a:buNone/>
              <a:def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520" cy="326304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4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5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26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F819BA0-DA3D-447A-948A-F63617944245}" type="slidenum">
              <a: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&lt;номер&gt;</a:t>
            </a:fld>
            <a:endParaRPr lang="ru-RU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23880" y="1282320"/>
            <a:ext cx="7886520" cy="213912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b">
            <a:normAutofit/>
          </a:bodyPr>
          <a:lstStyle>
            <a:lvl1pPr indent="0" algn="l">
              <a:buNone/>
              <a:defRPr lang="ru-RU" sz="4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4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23880" y="3441960"/>
            <a:ext cx="7886520" cy="11250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t">
            <a:normAutofit fontScale="40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27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28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29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F51CD4B-ABAF-4735-8D67-D9BF7263F592}" type="slidenum">
              <a: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&lt;номер&gt;</a:t>
            </a:fld>
            <a:endParaRPr lang="ru-RU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_OBJECT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rmAutofit lnSpcReduction="9999"/>
          </a:bodyPr>
          <a:lstStyle>
            <a:lvl1pPr indent="0" algn="l">
              <a:buNone/>
              <a:def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3885840" cy="326304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t">
            <a:normAutofit fontScale="62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4629240" y="1369080"/>
            <a:ext cx="3885840" cy="326304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t">
            <a:normAutofit fontScale="62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dt" idx="30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ftr" idx="31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sldNum" idx="32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279C748-61DE-4E56-8385-F72E5E1826BF}" type="slidenum">
              <a: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&lt;номер&gt;</a:t>
            </a:fld>
            <a:endParaRPr lang="ru-RU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_OBJECTS_WITH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30000" y="273960"/>
            <a:ext cx="7886520" cy="99396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rmAutofit lnSpcReduction="9999"/>
          </a:bodyPr>
          <a:lstStyle>
            <a:lvl1pPr indent="0" algn="l">
              <a:buNone/>
              <a:def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30000" y="1260720"/>
            <a:ext cx="3868200" cy="61776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b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630000" y="1878840"/>
            <a:ext cx="3868200" cy="276336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t">
            <a:normAutofit fontScale="5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body"/>
          </p:nvPr>
        </p:nvSpPr>
        <p:spPr>
          <a:xfrm>
            <a:off x="4629240" y="1260720"/>
            <a:ext cx="3886920" cy="61776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b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body"/>
          </p:nvPr>
        </p:nvSpPr>
        <p:spPr>
          <a:xfrm>
            <a:off x="4629240" y="1878840"/>
            <a:ext cx="3886920" cy="276336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t">
            <a:normAutofit fontScale="5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6"/>
          <p:cNvSpPr>
            <a:spLocks noGrp="1"/>
          </p:cNvSpPr>
          <p:nvPr>
            <p:ph type="dt" idx="33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7"/>
          <p:cNvSpPr>
            <a:spLocks noGrp="1"/>
          </p:cNvSpPr>
          <p:nvPr>
            <p:ph type="ftr" idx="34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8"/>
          <p:cNvSpPr>
            <a:spLocks noGrp="1"/>
          </p:cNvSpPr>
          <p:nvPr>
            <p:ph type="sldNum" idx="35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7866BAA-303F-446B-8AFA-63D89372DC8D}" type="slidenum">
              <a: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&lt;номер&gt;</a:t>
            </a:fld>
            <a:endParaRPr lang="ru-RU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rmAutofit lnSpcReduction="9999"/>
          </a:bodyPr>
          <a:lstStyle>
            <a:lvl1pPr indent="0" algn="l">
              <a:buNone/>
              <a:def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dt" idx="36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ftr" idx="37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sldNum" idx="38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84DA14A-1F14-41E7-A152-855F3CE3C55B}" type="slidenum">
              <a: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&lt;номер&gt;</a:t>
            </a:fld>
            <a:endParaRPr lang="ru-RU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WITH_CAPTIO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30000" y="343080"/>
            <a:ext cx="2948760" cy="119988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b">
            <a:normAutofit/>
          </a:bodyPr>
          <a:lstStyle>
            <a:lvl1pPr indent="0" algn="l">
              <a:buNone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3887280" y="740520"/>
            <a:ext cx="4628880" cy="365472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t">
            <a:normAutofit fontScale="7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808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618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24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24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24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24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body"/>
          </p:nvPr>
        </p:nvSpPr>
        <p:spPr>
          <a:xfrm>
            <a:off x="630000" y="1542960"/>
            <a:ext cx="2948760" cy="28584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t">
            <a:normAutofit fontScale="32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 type="dt" idx="39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 type="ftr" idx="40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6"/>
          <p:cNvSpPr>
            <a:spLocks noGrp="1"/>
          </p:cNvSpPr>
          <p:nvPr>
            <p:ph type="sldNum" idx="41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0025758-CF16-4561-A91D-0999B699C249}" type="slidenum">
              <a: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&lt;номер&gt;</a:t>
            </a:fld>
            <a:endParaRPr lang="ru-RU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30000" y="343080"/>
            <a:ext cx="2948760" cy="119988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b">
            <a:normAutofit/>
          </a:bodyPr>
          <a:lstStyle>
            <a:lvl1pPr indent="0" algn="l">
              <a:buNone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pic"/>
          </p:nvPr>
        </p:nvSpPr>
        <p:spPr>
          <a:xfrm>
            <a:off x="3887280" y="740520"/>
            <a:ext cx="4628880" cy="3654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 anchorCtr="1">
            <a:noAutofit/>
          </a:bodyPr>
          <a:p>
            <a:pPr indent="0" algn="l">
              <a:buNone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Добавьте изображение двойным щелчком мыши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body"/>
          </p:nvPr>
        </p:nvSpPr>
        <p:spPr>
          <a:xfrm>
            <a:off x="630000" y="1542960"/>
            <a:ext cx="2948760" cy="28584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t">
            <a:normAutofit fontScale="32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dt" idx="42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 type="ftr" idx="43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PlaceHolder 6"/>
          <p:cNvSpPr>
            <a:spLocks noGrp="1"/>
          </p:cNvSpPr>
          <p:nvPr>
            <p:ph type="sldNum" idx="44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lIns="68400" tIns="34200" rIns="684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00B0796-9A3C-4209-BCE6-020EA7424B67}" type="slidenum">
              <a:rPr lang="ru" sz="9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&lt;номер&gt;</a:t>
            </a:fld>
            <a:endParaRPr lang="ru-RU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6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6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6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6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16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6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129;p25"/>
          <p:cNvSpPr/>
          <p:nvPr/>
        </p:nvSpPr>
        <p:spPr>
          <a:xfrm>
            <a:off x="6767640" y="4633560"/>
            <a:ext cx="21225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2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#МЫСОЗДАЁМДВИЖЕНИЕ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Google Shape;130;p25"/>
          <p:cNvSpPr/>
          <p:nvPr/>
        </p:nvSpPr>
        <p:spPr>
          <a:xfrm>
            <a:off x="6669000" y="360360"/>
            <a:ext cx="222120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2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ЗАЩИТА КОНЦЕПЦИЙ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31;p25"/>
          <p:cNvSpPr/>
          <p:nvPr/>
        </p:nvSpPr>
        <p:spPr>
          <a:xfrm>
            <a:off x="733680" y="1470240"/>
            <a:ext cx="7011000" cy="62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36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ШИФР-СВЯЗЬ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32;p25"/>
          <p:cNvSpPr/>
          <p:nvPr/>
        </p:nvSpPr>
        <p:spPr>
          <a:xfrm>
            <a:off x="733680" y="3571200"/>
            <a:ext cx="3767040" cy="74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1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Программа обучения: Инфокоммуникационные технологии и системы связи (11.03.02)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1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1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Группа: ШМС-211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Google Shape;133;p25"/>
          <p:cNvSpPr/>
          <p:nvPr/>
        </p:nvSpPr>
        <p:spPr>
          <a:xfrm>
            <a:off x="733680" y="2567880"/>
            <a:ext cx="4571640" cy="4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4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Система безопасной локальной связи диспетчеров “Шифр-Связь”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134;p25"/>
          <p:cNvSpPr/>
          <p:nvPr/>
        </p:nvSpPr>
        <p:spPr>
          <a:xfrm>
            <a:off x="733680" y="3052800"/>
            <a:ext cx="457164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4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0000-00-0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35;p25"/>
          <p:cNvSpPr/>
          <p:nvPr/>
        </p:nvSpPr>
        <p:spPr>
          <a:xfrm>
            <a:off x="4501080" y="3571200"/>
            <a:ext cx="4571640" cy="10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1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Наставник: </a:t>
            </a:r>
            <a:r>
              <a:rPr lang="ru" sz="11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Волкова Е.А. </a:t>
            </a:r>
            <a:br>
              <a:rPr sz="1100"/>
            </a:br>
            <a:r>
              <a:rPr lang="ru" sz="11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Команда: </a:t>
            </a:r>
            <a:r>
              <a:rPr lang="ru" sz="11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Митрофанов Д.Р.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1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Воронин К.В.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1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Дороднев Д.А.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1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Ташкаев А.А.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1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Грекова У.В.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140;p26"/>
          <p:cNvSpPr/>
          <p:nvPr/>
        </p:nvSpPr>
        <p:spPr>
          <a:xfrm>
            <a:off x="360000" y="348480"/>
            <a:ext cx="431460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30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Текущая ситуация</a:t>
            </a:r>
            <a:endParaRPr lang="ru-R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141;p26"/>
          <p:cNvSpPr/>
          <p:nvPr/>
        </p:nvSpPr>
        <p:spPr>
          <a:xfrm>
            <a:off x="360000" y="1177560"/>
            <a:ext cx="7851240" cy="62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Диспетчерам необходимо быстро и оперативно обмениваться данными в процессе работы.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Google Shape;142;p26"/>
          <p:cNvSpPr/>
          <p:nvPr/>
        </p:nvSpPr>
        <p:spPr>
          <a:xfrm>
            <a:off x="360000" y="1944720"/>
            <a:ext cx="7851240" cy="73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Проблема:</a:t>
            </a: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 У диспетчеров на данный момент отсутствует безопасный, удобный и быстрый способ обменом информации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Google Shape;143;p26"/>
          <p:cNvSpPr/>
          <p:nvPr/>
        </p:nvSpPr>
        <p:spPr>
          <a:xfrm>
            <a:off x="360000" y="2703600"/>
            <a:ext cx="7851240" cy="184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Барьеры нынешних решений:</a:t>
            </a: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 Использование публичных сервисов создаёт риски перехвата сообщений третьими лицами, даже при использовании отечественных сервисов. Кроме того, работа публичных мессенджеров требует подключения к интернету, что невозможно или нежелательно в закрытой и изолированной локальной сети предприятия.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48;p27"/>
          <p:cNvSpPr/>
          <p:nvPr/>
        </p:nvSpPr>
        <p:spPr>
          <a:xfrm>
            <a:off x="360000" y="348480"/>
            <a:ext cx="431460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30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Текущая ситуация</a:t>
            </a:r>
            <a:endParaRPr lang="ru-R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149;p27"/>
          <p:cNvSpPr/>
          <p:nvPr/>
        </p:nvSpPr>
        <p:spPr>
          <a:xfrm>
            <a:off x="1265400" y="831600"/>
            <a:ext cx="19220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Стейкхолдеры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2" name="Google Shape;150;p27"/>
          <p:cNvPicPr/>
          <p:nvPr/>
        </p:nvPicPr>
        <p:blipFill>
          <a:blip r:embed="rId2"/>
          <a:stretch/>
        </p:blipFill>
        <p:spPr>
          <a:xfrm>
            <a:off x="360000" y="1177920"/>
            <a:ext cx="3732840" cy="3727800"/>
          </a:xfrm>
          <a:prstGeom prst="rect">
            <a:avLst/>
          </a:prstGeom>
          <a:noFill/>
          <a:ln w="38100">
            <a:solidFill>
              <a:srgbClr val="D6EDFF"/>
            </a:solidFill>
            <a:round/>
          </a:ln>
        </p:spPr>
      </p:pic>
      <p:sp>
        <p:nvSpPr>
          <p:cNvPr id="103" name="Google Shape;151;p27"/>
          <p:cNvSpPr/>
          <p:nvPr/>
        </p:nvSpPr>
        <p:spPr>
          <a:xfrm>
            <a:off x="4674960" y="831600"/>
            <a:ext cx="40039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Выводы из проблемного интервью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152;p27"/>
          <p:cNvSpPr/>
          <p:nvPr/>
        </p:nvSpPr>
        <p:spPr>
          <a:xfrm>
            <a:off x="4674960" y="1177920"/>
            <a:ext cx="4314600" cy="363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 marL="457200" indent="-33012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</a:pPr>
            <a:r>
              <a:rPr lang="ru" sz="16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Скорость обмена данными критична для операционной работы и экстренных ситуаций.</a:t>
            </a:r>
            <a:endParaRPr lang="ru-RU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3012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</a:pPr>
            <a:r>
              <a:rPr lang="ru" sz="16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Внутренняя почта не подходит для оперативного (синхронного) общения.</a:t>
            </a:r>
            <a:endParaRPr lang="ru-RU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3012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</a:pPr>
            <a:r>
              <a:rPr lang="ru" sz="16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Пользователям важен привычный UX (возможность отправлять файлы, фото, создавать групповые чаты).</a:t>
            </a:r>
            <a:endParaRPr lang="ru-RU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3012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</a:pPr>
            <a:r>
              <a:rPr lang="ru" sz="16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Трафик не должен покидать периметр локальной сети.</a:t>
            </a:r>
            <a:endParaRPr lang="ru-RU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3012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</a:pPr>
            <a:r>
              <a:rPr lang="ru" sz="16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Требуется возможность аудита и контроля.</a:t>
            </a:r>
            <a:endParaRPr lang="ru-RU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3012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</a:pPr>
            <a:r>
              <a:rPr lang="ru" sz="16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Полное отсутствие зависимости от внешнего интернета.</a:t>
            </a:r>
            <a:endParaRPr lang="ru-RU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57;p28"/>
          <p:cNvSpPr/>
          <p:nvPr/>
        </p:nvSpPr>
        <p:spPr>
          <a:xfrm>
            <a:off x="366480" y="275760"/>
            <a:ext cx="431460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30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Анализ аналогов</a:t>
            </a:r>
            <a:endParaRPr lang="ru-R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58;p28"/>
          <p:cNvSpPr/>
          <p:nvPr/>
        </p:nvSpPr>
        <p:spPr>
          <a:xfrm>
            <a:off x="366480" y="697320"/>
            <a:ext cx="84106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Подходящее решение отсутствует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7" name="Google Shape;159;p28"/>
          <p:cNvGraphicFramePr/>
          <p:nvPr/>
        </p:nvGraphicFramePr>
        <p:xfrm>
          <a:off x="366480" y="1043640"/>
          <a:ext cx="8410680" cy="3937320"/>
        </p:xfrm>
        <a:graphic>
          <a:graphicData uri="http://schemas.openxmlformats.org/drawingml/2006/table">
            <a:tbl>
              <a:tblPr/>
              <a:tblGrid>
                <a:gridCol w="2222640"/>
                <a:gridCol w="6188400"/>
              </a:tblGrid>
              <a:tr h="650520">
                <a:tc>
                  <a:txBody>
                    <a:bodyPr lIns="91080" tIns="91080" rIns="91080" bIns="91080" anchor="ctr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700"/>
                        </a:spcAft>
                        <a:tabLst>
                          <a:tab pos="0" algn="l"/>
                        </a:tabLst>
                      </a:pPr>
                      <a:r>
                        <a:rPr lang="ru" sz="1400" b="1" u="none" strike="noStrike">
                          <a:solidFill>
                            <a:srgbClr val="D6ED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Nextcloud Talk</a:t>
                      </a:r>
                      <a:endParaRPr lang="ru-RU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080" marR="91080" marT="91080" marB="91080">
                    <a:lnL w="38160">
                      <a:solidFill>
                        <a:srgbClr val="0C343D"/>
                      </a:solidFill>
                      <a:prstDash val="solid"/>
                    </a:lnL>
                    <a:lnR w="38160">
                      <a:solidFill>
                        <a:srgbClr val="0C343D"/>
                      </a:solidFill>
                      <a:prstDash val="solid"/>
                    </a:lnR>
                    <a:lnT w="38160">
                      <a:solidFill>
                        <a:srgbClr val="0C343D"/>
                      </a:solidFill>
                      <a:prstDash val="solid"/>
                    </a:lnT>
                    <a:lnB w="38160">
                      <a:solidFill>
                        <a:srgbClr val="0C343D"/>
                      </a:solidFill>
                      <a:prstDash val="solid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300" b="0" u="none" strike="noStrike">
                          <a:solidFill>
                            <a:srgbClr val="D6ED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Ориентирован на видеоконференции, избыточный функционал. Так же сам по себе слишком “тяжёлый”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38160">
                      <a:solidFill>
                        <a:srgbClr val="0C343D"/>
                      </a:solidFill>
                      <a:prstDash val="solid"/>
                    </a:lnL>
                    <a:lnR w="38160">
                      <a:solidFill>
                        <a:srgbClr val="0C343D"/>
                      </a:solidFill>
                      <a:prstDash val="solid"/>
                    </a:lnR>
                    <a:lnT w="38160">
                      <a:solidFill>
                        <a:srgbClr val="0C343D"/>
                      </a:solidFill>
                      <a:prstDash val="solid"/>
                    </a:lnT>
                    <a:lnB w="38160">
                      <a:solidFill>
                        <a:srgbClr val="0C343D"/>
                      </a:solidFill>
                      <a:prstDash val="solid"/>
                    </a:lnB>
                    <a:solidFill>
                      <a:srgbClr val="073763"/>
                    </a:solidFill>
                  </a:tcPr>
                </a:tc>
              </a:tr>
              <a:tr h="650520">
                <a:tc>
                  <a:txBody>
                    <a:bodyPr lIns="91080" tIns="91080" r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400" b="1" u="none" strike="noStrike">
                          <a:solidFill>
                            <a:srgbClr val="D6ED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MAX, Telegram, VK и др.</a:t>
                      </a:r>
                      <a:endParaRPr lang="ru-RU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080" marR="91080" marT="91080" marB="91080">
                    <a:lnL w="38160">
                      <a:solidFill>
                        <a:srgbClr val="0C343D"/>
                      </a:solidFill>
                      <a:prstDash val="solid"/>
                    </a:lnL>
                    <a:lnR w="38160">
                      <a:solidFill>
                        <a:srgbClr val="0C343D"/>
                      </a:solidFill>
                      <a:prstDash val="solid"/>
                    </a:lnR>
                    <a:lnT w="38160">
                      <a:solidFill>
                        <a:srgbClr val="0C343D"/>
                      </a:solidFill>
                      <a:prstDash val="solid"/>
                    </a:lnT>
                    <a:lnB w="38160">
                      <a:solidFill>
                        <a:srgbClr val="0C343D"/>
                      </a:solidFill>
                      <a:prstDash val="solid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300" b="0" u="none" strike="noStrike">
                          <a:solidFill>
                            <a:srgbClr val="D6ED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Требуют постоянного интернет подключения, что является риском, даже если сервера отечественные.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38160">
                      <a:solidFill>
                        <a:srgbClr val="0C343D"/>
                      </a:solidFill>
                      <a:prstDash val="solid"/>
                    </a:lnL>
                    <a:lnR w="38160">
                      <a:solidFill>
                        <a:srgbClr val="0C343D"/>
                      </a:solidFill>
                      <a:prstDash val="solid"/>
                    </a:lnR>
                    <a:lnT w="38160">
                      <a:solidFill>
                        <a:srgbClr val="0C343D"/>
                      </a:solidFill>
                      <a:prstDash val="solid"/>
                    </a:lnT>
                    <a:lnB w="38160">
                      <a:solidFill>
                        <a:srgbClr val="0C343D"/>
                      </a:solidFill>
                      <a:prstDash val="solid"/>
                    </a:lnB>
                    <a:solidFill>
                      <a:srgbClr val="073763"/>
                    </a:solidFill>
                  </a:tcPr>
                </a:tc>
              </a:tr>
              <a:tr h="650520">
                <a:tc>
                  <a:txBody>
                    <a:bodyPr lIns="91080" tIns="91080" r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400" b="1" u="none" strike="noStrike">
                          <a:solidFill>
                            <a:srgbClr val="D6ED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XMPP-сервер</a:t>
                      </a:r>
                      <a:endParaRPr lang="ru-RU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080" marR="91080" marT="91080" marB="91080">
                    <a:lnL w="38160">
                      <a:solidFill>
                        <a:srgbClr val="0C343D"/>
                      </a:solidFill>
                      <a:prstDash val="solid"/>
                    </a:lnL>
                    <a:lnR w="38160">
                      <a:solidFill>
                        <a:srgbClr val="0C343D"/>
                      </a:solidFill>
                      <a:prstDash val="solid"/>
                    </a:lnR>
                    <a:lnT w="38160">
                      <a:solidFill>
                        <a:srgbClr val="0C343D"/>
                      </a:solidFill>
                      <a:prstDash val="solid"/>
                    </a:lnT>
                    <a:lnB w="38160">
                      <a:solidFill>
                        <a:srgbClr val="0C343D"/>
                      </a:solidFill>
                      <a:prstDash val="solid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300" b="0" u="none" strike="noStrike">
                          <a:solidFill>
                            <a:srgbClr val="D6ED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Устаревший как UX так и сам по себе, фрагментация и расхождения в функционале клиентов.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38160">
                      <a:solidFill>
                        <a:srgbClr val="0C343D"/>
                      </a:solidFill>
                      <a:prstDash val="solid"/>
                    </a:lnL>
                    <a:lnR w="38160">
                      <a:solidFill>
                        <a:srgbClr val="0C343D"/>
                      </a:solidFill>
                      <a:prstDash val="solid"/>
                    </a:lnR>
                    <a:lnT w="38160">
                      <a:solidFill>
                        <a:srgbClr val="0C343D"/>
                      </a:solidFill>
                      <a:prstDash val="solid"/>
                    </a:lnT>
                    <a:lnB w="38160">
                      <a:solidFill>
                        <a:srgbClr val="0C343D"/>
                      </a:solidFill>
                      <a:prstDash val="solid"/>
                    </a:lnB>
                    <a:solidFill>
                      <a:srgbClr val="073763"/>
                    </a:solidFill>
                  </a:tcPr>
                </a:tc>
              </a:tr>
              <a:tr h="1106280">
                <a:tc>
                  <a:txBody>
                    <a:bodyPr lIns="91080" tIns="91080" r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400" b="1" u="none" strike="noStrike">
                          <a:solidFill>
                            <a:srgbClr val="D6ED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Mattermost</a:t>
                      </a:r>
                      <a:endParaRPr lang="ru-RU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080" marR="91080" marT="91080" marB="91080">
                    <a:lnL w="38160">
                      <a:solidFill>
                        <a:srgbClr val="0C343D"/>
                      </a:solidFill>
                      <a:prstDash val="solid"/>
                    </a:lnL>
                    <a:lnR w="38160">
                      <a:solidFill>
                        <a:srgbClr val="0C343D"/>
                      </a:solidFill>
                      <a:prstDash val="solid"/>
                    </a:lnR>
                    <a:lnT w="38160">
                      <a:solidFill>
                        <a:srgbClr val="0C343D"/>
                      </a:solidFill>
                      <a:prstDash val="solid"/>
                    </a:lnT>
                    <a:lnB w="38160">
                      <a:solidFill>
                        <a:srgbClr val="0C343D"/>
                      </a:solidFill>
                      <a:prstDash val="solid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300" b="0" u="none" strike="noStrike">
                          <a:solidFill>
                            <a:srgbClr val="D6ED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Самый близкий кандидат, однако данный продукт слишком ресурсозатраный для установки/поддержки и избыток ненужного для диспетчеров функционала. Так же требует интернет для проверки Enterprise лицензии.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38160">
                      <a:solidFill>
                        <a:srgbClr val="0C343D"/>
                      </a:solidFill>
                      <a:prstDash val="solid"/>
                    </a:lnL>
                    <a:lnR w="38160">
                      <a:solidFill>
                        <a:srgbClr val="0C343D"/>
                      </a:solidFill>
                      <a:prstDash val="solid"/>
                    </a:lnR>
                    <a:lnT w="38160">
                      <a:solidFill>
                        <a:srgbClr val="0C343D"/>
                      </a:solidFill>
                      <a:prstDash val="solid"/>
                    </a:lnT>
                    <a:lnB w="38160">
                      <a:solidFill>
                        <a:srgbClr val="0C343D"/>
                      </a:solidFill>
                      <a:prstDash val="solid"/>
                    </a:lnB>
                    <a:solidFill>
                      <a:srgbClr val="073763"/>
                    </a:solidFill>
                  </a:tcPr>
                </a:tc>
              </a:tr>
              <a:tr h="878400">
                <a:tc>
                  <a:txBody>
                    <a:bodyPr lIns="91080" tIns="91080" rIns="91080" b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400" b="1" u="none" strike="noStrike">
                          <a:solidFill>
                            <a:srgbClr val="D6ED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Matrix/Element</a:t>
                      </a:r>
                      <a:endParaRPr lang="ru-RU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080" marR="91080" marT="91080" marB="91080">
                    <a:lnL w="38160">
                      <a:solidFill>
                        <a:srgbClr val="0C343D"/>
                      </a:solidFill>
                      <a:prstDash val="solid"/>
                    </a:lnL>
                    <a:lnR w="38160">
                      <a:solidFill>
                        <a:srgbClr val="0C343D"/>
                      </a:solidFill>
                      <a:prstDash val="solid"/>
                    </a:lnR>
                    <a:lnT w="38160">
                      <a:solidFill>
                        <a:srgbClr val="0C343D"/>
                      </a:solidFill>
                      <a:prstDash val="solid"/>
                    </a:lnT>
                    <a:lnB w="38160">
                      <a:solidFill>
                        <a:srgbClr val="0C343D"/>
                      </a:solidFill>
                      <a:prstDash val="solid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300" b="0" u="none" strike="noStrike">
                          <a:solidFill>
                            <a:srgbClr val="D6ED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По своей сути предназначены для открытого интернета и межорганизационного общения. Трудно поддерживать в оффлайне, а также ресурсоёмкий.</a:t>
                      </a:r>
                      <a:endParaRPr lang="ru-RU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38160">
                      <a:solidFill>
                        <a:srgbClr val="0C343D"/>
                      </a:solidFill>
                      <a:prstDash val="solid"/>
                    </a:lnL>
                    <a:lnR w="38160">
                      <a:solidFill>
                        <a:srgbClr val="0C343D"/>
                      </a:solidFill>
                      <a:prstDash val="solid"/>
                    </a:lnR>
                    <a:lnT w="38160">
                      <a:solidFill>
                        <a:srgbClr val="0C343D"/>
                      </a:solidFill>
                      <a:prstDash val="solid"/>
                    </a:lnT>
                    <a:lnB w="38160">
                      <a:solidFill>
                        <a:srgbClr val="0C343D"/>
                      </a:solidFill>
                      <a:prstDash val="solid"/>
                    </a:lnB>
                    <a:solidFill>
                      <a:srgbClr val="073763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64;p29"/>
          <p:cNvSpPr/>
          <p:nvPr/>
        </p:nvSpPr>
        <p:spPr>
          <a:xfrm>
            <a:off x="278280" y="317880"/>
            <a:ext cx="27374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30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Проблема </a:t>
            </a:r>
            <a:endParaRPr lang="ru-R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165;p29"/>
          <p:cNvSpPr/>
          <p:nvPr/>
        </p:nvSpPr>
        <p:spPr>
          <a:xfrm>
            <a:off x="333000" y="1361160"/>
            <a:ext cx="149688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spAutoFit/>
          </a:bodyPr>
          <a:p>
            <a:pPr/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Google Shape;166;p29"/>
          <p:cNvSpPr/>
          <p:nvPr/>
        </p:nvSpPr>
        <p:spPr>
          <a:xfrm>
            <a:off x="469800" y="1264680"/>
            <a:ext cx="1462320" cy="564480"/>
          </a:xfrm>
          <a:prstGeom prst="roundRect">
            <a:avLst>
              <a:gd name="adj" fmla="val 16667"/>
            </a:avLst>
          </a:prstGeom>
          <a:solidFill>
            <a:srgbClr val="D6EDFF"/>
          </a:solidFill>
          <a:ln w="7150">
            <a:solidFill>
              <a:srgbClr val="D6ED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ru" sz="1600" b="0" u="none" strike="noStrike">
                <a:solidFill>
                  <a:srgbClr val="073763"/>
                </a:solidFill>
                <a:effectLst/>
                <a:uFillTx/>
                <a:latin typeface="Arial"/>
                <a:ea typeface="Arial"/>
              </a:rPr>
              <a:t>У кого-то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167;p29"/>
          <p:cNvSpPr/>
          <p:nvPr/>
        </p:nvSpPr>
        <p:spPr>
          <a:xfrm>
            <a:off x="469800" y="1977840"/>
            <a:ext cx="1462320" cy="564480"/>
          </a:xfrm>
          <a:prstGeom prst="roundRect">
            <a:avLst>
              <a:gd name="adj" fmla="val 16667"/>
            </a:avLst>
          </a:prstGeom>
          <a:solidFill>
            <a:srgbClr val="D6EDFF"/>
          </a:solidFill>
          <a:ln w="7150">
            <a:solidFill>
              <a:srgbClr val="D6ED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ru" sz="1500" b="0" u="none" strike="noStrike">
                <a:solidFill>
                  <a:srgbClr val="073763"/>
                </a:solidFill>
                <a:effectLst/>
                <a:uFillTx/>
                <a:latin typeface="Arial"/>
                <a:ea typeface="Arial"/>
              </a:rPr>
              <a:t>есть потребность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Google Shape;168;p29"/>
          <p:cNvSpPr/>
          <p:nvPr/>
        </p:nvSpPr>
        <p:spPr>
          <a:xfrm>
            <a:off x="469800" y="2645640"/>
            <a:ext cx="1462320" cy="564480"/>
          </a:xfrm>
          <a:prstGeom prst="roundRect">
            <a:avLst>
              <a:gd name="adj" fmla="val 16667"/>
            </a:avLst>
          </a:prstGeom>
          <a:solidFill>
            <a:srgbClr val="D6EDFF"/>
          </a:solidFill>
          <a:ln w="7150">
            <a:solidFill>
              <a:srgbClr val="D6ED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ru" sz="1400" b="0" u="none" strike="noStrike">
                <a:solidFill>
                  <a:srgbClr val="073763"/>
                </a:solidFill>
                <a:effectLst/>
                <a:uFillTx/>
                <a:latin typeface="Arial"/>
                <a:ea typeface="Arial"/>
              </a:rPr>
              <a:t>но что-то ему мешает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169;p29"/>
          <p:cNvSpPr/>
          <p:nvPr/>
        </p:nvSpPr>
        <p:spPr>
          <a:xfrm>
            <a:off x="469800" y="3313800"/>
            <a:ext cx="1462320" cy="564480"/>
          </a:xfrm>
          <a:prstGeom prst="roundRect">
            <a:avLst>
              <a:gd name="adj" fmla="val 16667"/>
            </a:avLst>
          </a:prstGeom>
          <a:solidFill>
            <a:srgbClr val="D6EDFF"/>
          </a:solidFill>
          <a:ln w="7150">
            <a:solidFill>
              <a:srgbClr val="D6ED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ru" sz="900" b="0" u="none" strike="noStrike">
                <a:solidFill>
                  <a:srgbClr val="073763"/>
                </a:solidFill>
                <a:effectLst/>
                <a:uFillTx/>
                <a:latin typeface="Arial"/>
                <a:ea typeface="Arial"/>
              </a:rPr>
              <a:t>а имеющиеся решения не подходят, потому что…</a:t>
            </a:r>
            <a:endParaRPr lang="ru-RU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70;p29"/>
          <p:cNvSpPr/>
          <p:nvPr/>
        </p:nvSpPr>
        <p:spPr>
          <a:xfrm>
            <a:off x="2019600" y="1264680"/>
            <a:ext cx="6757200" cy="5644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7150">
            <a:solidFill>
              <a:srgbClr val="A4C2F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200" b="0" u="none" strike="noStrike">
                <a:solidFill>
                  <a:srgbClr val="073763"/>
                </a:solidFill>
                <a:effectLst/>
                <a:uFillTx/>
                <a:latin typeface="Arial"/>
                <a:ea typeface="Arial"/>
              </a:rPr>
              <a:t>У диспетчеров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171;p29"/>
          <p:cNvSpPr/>
          <p:nvPr/>
        </p:nvSpPr>
        <p:spPr>
          <a:xfrm>
            <a:off x="2019600" y="1955160"/>
            <a:ext cx="6757200" cy="5644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7150">
            <a:solidFill>
              <a:srgbClr val="A4C2F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200" b="0" u="none" strike="noStrike">
                <a:solidFill>
                  <a:srgbClr val="073763"/>
                </a:solidFill>
                <a:effectLst/>
                <a:uFillTx/>
                <a:latin typeface="Arial"/>
                <a:ea typeface="Arial"/>
              </a:rPr>
              <a:t>Есть потребность в быстром, безопасном и удобном обмене сообщениями и рабочими данными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172;p29"/>
          <p:cNvSpPr/>
          <p:nvPr/>
        </p:nvSpPr>
        <p:spPr>
          <a:xfrm>
            <a:off x="2019600" y="2645640"/>
            <a:ext cx="6757200" cy="5644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7150">
            <a:solidFill>
              <a:srgbClr val="A4C2F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200" b="0" u="none" strike="noStrike">
                <a:solidFill>
                  <a:srgbClr val="073763"/>
                </a:solidFill>
                <a:effectLst/>
                <a:uFillTx/>
                <a:latin typeface="Arial"/>
                <a:ea typeface="Arial"/>
              </a:rPr>
              <a:t>Им мешает отсутствие подходящего инструмента внутри корпоративной сети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173;p29"/>
          <p:cNvSpPr/>
          <p:nvPr/>
        </p:nvSpPr>
        <p:spPr>
          <a:xfrm>
            <a:off x="2019600" y="3313800"/>
            <a:ext cx="6757200" cy="5644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7150">
            <a:solidFill>
              <a:srgbClr val="A4C2F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tIns="68400" rIns="68400" bIns="6840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200" b="0" u="none" strike="noStrike">
                <a:solidFill>
                  <a:srgbClr val="073763"/>
                </a:solidFill>
                <a:effectLst/>
                <a:uFillTx/>
                <a:latin typeface="Arial"/>
                <a:ea typeface="Arial"/>
              </a:rPr>
              <a:t>Публичные мессенджеры не обеспечивают конфиденциальность, нарушают требования ИБ и не могут функционировать в закрытом контуре без подключения к интернету.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78;p30"/>
          <p:cNvSpPr/>
          <p:nvPr/>
        </p:nvSpPr>
        <p:spPr>
          <a:xfrm>
            <a:off x="360000" y="348480"/>
            <a:ext cx="431460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30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Цель и задачи</a:t>
            </a:r>
            <a:endParaRPr lang="ru-R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79;p30"/>
          <p:cNvSpPr/>
          <p:nvPr/>
        </p:nvSpPr>
        <p:spPr>
          <a:xfrm>
            <a:off x="360000" y="1232280"/>
            <a:ext cx="7851240" cy="11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Цель:</a:t>
            </a: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 Разработать систему корпоративного мессенджера «ШИФР-СВЯЗЬ» на базе self-hosted сервера для диспетчеров. Система должна обеспечить быстрый обмен текстовыми и мультимедийными данными в изолированной локальной сети без подключения к Интернет.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80;p30"/>
          <p:cNvSpPr/>
          <p:nvPr/>
        </p:nvSpPr>
        <p:spPr>
          <a:xfrm>
            <a:off x="360000" y="2409840"/>
            <a:ext cx="7851240" cy="240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Задачи: 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1. Провести детальный сбор требований (UX/UI, функционал, протоколы шифрования, архитектура изоляции).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2. Спроектировать архитектуру self-hosted сервера, способного работать в полностью изолированной локальной сети без шлюзов в интернет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>
              <a:lnSpc>
                <a:spcPct val="100000"/>
              </a:lnSpc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3. Разработать удобные для диспетчеров клиентские приложения для работы с внутренним сервером.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85;p31"/>
          <p:cNvSpPr/>
          <p:nvPr/>
        </p:nvSpPr>
        <p:spPr>
          <a:xfrm>
            <a:off x="360000" y="348480"/>
            <a:ext cx="7851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30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Требования к решению</a:t>
            </a:r>
            <a:endParaRPr lang="ru-R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86;p31"/>
          <p:cNvSpPr/>
          <p:nvPr/>
        </p:nvSpPr>
        <p:spPr>
          <a:xfrm>
            <a:off x="360000" y="1117080"/>
            <a:ext cx="7851240" cy="145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Решение должно: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308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Работать полностью автономно без подключения к Интернету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308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Быть удобным для пользователей и специализированным под задачи диспетчеров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308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Достаточно безопасным для использования внутри компании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87;p31"/>
          <p:cNvSpPr/>
          <p:nvPr/>
        </p:nvSpPr>
        <p:spPr>
          <a:xfrm>
            <a:off x="360000" y="2809080"/>
            <a:ext cx="7851240" cy="184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Решение должно выполнять функции: 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308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Быстрый обмен сообщениями (текстовые + файлы)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308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Организация различных групп, с разными привилегиями для пользователей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308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Шифрования сообщений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3080">
              <a:lnSpc>
                <a:spcPct val="100000"/>
              </a:lnSpc>
              <a:buClr>
                <a:srgbClr val="D6EDFF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Быстрого отправления частых сообщений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92;p32"/>
          <p:cNvSpPr/>
          <p:nvPr/>
        </p:nvSpPr>
        <p:spPr>
          <a:xfrm>
            <a:off x="360000" y="348480"/>
            <a:ext cx="7851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30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Архитектура решения</a:t>
            </a:r>
            <a:endParaRPr lang="ru-R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Google Shape;193;p32"/>
          <p:cNvSpPr/>
          <p:nvPr/>
        </p:nvSpPr>
        <p:spPr>
          <a:xfrm>
            <a:off x="360000" y="740160"/>
            <a:ext cx="7851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Клиент-серверная архитектура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Google Shape;194;p32"/>
          <p:cNvSpPr/>
          <p:nvPr/>
        </p:nvSpPr>
        <p:spPr>
          <a:xfrm>
            <a:off x="360000" y="1317240"/>
            <a:ext cx="3814560" cy="46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Серверная часть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195;p32"/>
          <p:cNvSpPr/>
          <p:nvPr/>
        </p:nvSpPr>
        <p:spPr>
          <a:xfrm>
            <a:off x="4572000" y="1317240"/>
            <a:ext cx="3814560" cy="46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Клиентская часть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8" name="Google Shape;196;p32"/>
          <p:cNvPicPr/>
          <p:nvPr/>
        </p:nvPicPr>
        <p:blipFill>
          <a:blip r:embed="rId2"/>
          <a:stretch/>
        </p:blipFill>
        <p:spPr>
          <a:xfrm>
            <a:off x="152280" y="1931400"/>
            <a:ext cx="571320" cy="571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29" name="Google Shape;197;p32"/>
          <p:cNvGrpSpPr/>
          <p:nvPr/>
        </p:nvGrpSpPr>
        <p:grpSpPr>
          <a:xfrm>
            <a:off x="-170280" y="2381400"/>
            <a:ext cx="1839960" cy="1034640"/>
            <a:chOff x="-170280" y="2381400"/>
            <a:chExt cx="1839960" cy="1034640"/>
          </a:xfrm>
        </p:grpSpPr>
        <p:pic>
          <p:nvPicPr>
            <p:cNvPr id="130" name="Google Shape;198;p32"/>
            <p:cNvPicPr/>
            <p:nvPr/>
          </p:nvPicPr>
          <p:blipFill>
            <a:blip r:embed="rId3"/>
            <a:stretch/>
          </p:blipFill>
          <p:spPr>
            <a:xfrm>
              <a:off x="-170280" y="2381400"/>
              <a:ext cx="1839960" cy="1034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1" name="Google Shape;199;p32"/>
            <p:cNvPicPr/>
            <p:nvPr/>
          </p:nvPicPr>
          <p:blipFill>
            <a:blip r:embed="rId4"/>
            <a:stretch/>
          </p:blipFill>
          <p:spPr>
            <a:xfrm>
              <a:off x="196200" y="2636280"/>
              <a:ext cx="1106640" cy="5245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32" name="Google Shape;200;p32"/>
          <p:cNvSpPr/>
          <p:nvPr/>
        </p:nvSpPr>
        <p:spPr>
          <a:xfrm>
            <a:off x="360000" y="1779120"/>
            <a:ext cx="3814560" cy="46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 algn="ctr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tabLst>
                <a:tab pos="0" algn="l"/>
              </a:tabLst>
            </a:pPr>
            <a:r>
              <a:rPr lang="ru" sz="18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InspIRCd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201;p32"/>
          <p:cNvSpPr/>
          <p:nvPr/>
        </p:nvSpPr>
        <p:spPr>
          <a:xfrm>
            <a:off x="723960" y="2010240"/>
            <a:ext cx="345060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tabLst>
                <a:tab pos="0" algn="l"/>
              </a:tabLst>
            </a:pPr>
            <a:r>
              <a:rPr lang="ru" sz="14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Модульный, легкий, современный IRC-сервер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202;p32"/>
          <p:cNvSpPr/>
          <p:nvPr/>
        </p:nvSpPr>
        <p:spPr>
          <a:xfrm>
            <a:off x="360000" y="2459520"/>
            <a:ext cx="3814560" cy="46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 algn="ctr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tabLst>
                <a:tab pos="0" algn="l"/>
              </a:tabLst>
            </a:pPr>
            <a:r>
              <a:rPr lang="ru" sz="18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SQLite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203;p32"/>
          <p:cNvSpPr/>
          <p:nvPr/>
        </p:nvSpPr>
        <p:spPr>
          <a:xfrm>
            <a:off x="1280880" y="2690280"/>
            <a:ext cx="289368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tabLst>
                <a:tab pos="0" algn="l"/>
              </a:tabLst>
            </a:pPr>
            <a:r>
              <a:rPr lang="ru" sz="14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Надёжное и лёгкое решение для  DB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6" name="Google Shape;204;p32"/>
          <p:cNvPicPr/>
          <p:nvPr/>
        </p:nvPicPr>
        <p:blipFill>
          <a:blip r:embed="rId5"/>
          <a:stretch/>
        </p:blipFill>
        <p:spPr>
          <a:xfrm>
            <a:off x="4208760" y="1854000"/>
            <a:ext cx="726120" cy="72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Google Shape;205;p32"/>
          <p:cNvSpPr/>
          <p:nvPr/>
        </p:nvSpPr>
        <p:spPr>
          <a:xfrm>
            <a:off x="4572000" y="1777680"/>
            <a:ext cx="3814560" cy="46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 algn="ctr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tabLst>
                <a:tab pos="0" algn="l"/>
              </a:tabLst>
            </a:pPr>
            <a:r>
              <a:rPr lang="ru" sz="18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Next.js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206;p32"/>
          <p:cNvSpPr/>
          <p:nvPr/>
        </p:nvSpPr>
        <p:spPr>
          <a:xfrm>
            <a:off x="4935960" y="2008800"/>
            <a:ext cx="345060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tabLst>
                <a:tab pos="0" algn="l"/>
              </a:tabLst>
            </a:pPr>
            <a:r>
              <a:rPr lang="ru" sz="14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Современный интерфейс с server-side рендерингом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9" name="Google Shape;207;p32"/>
          <p:cNvPicPr/>
          <p:nvPr/>
        </p:nvPicPr>
        <p:blipFill>
          <a:blip r:embed="rId6"/>
          <a:stretch/>
        </p:blipFill>
        <p:spPr>
          <a:xfrm>
            <a:off x="152280" y="3459600"/>
            <a:ext cx="584640" cy="46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0" name="Google Shape;208;p32"/>
          <p:cNvSpPr/>
          <p:nvPr/>
        </p:nvSpPr>
        <p:spPr>
          <a:xfrm>
            <a:off x="360000" y="3195360"/>
            <a:ext cx="3814560" cy="46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 algn="ctr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tabLst>
                <a:tab pos="0" algn="l"/>
              </a:tabLst>
            </a:pPr>
            <a:r>
              <a:rPr lang="ru" sz="18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Docker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209;p32"/>
          <p:cNvSpPr/>
          <p:nvPr/>
        </p:nvSpPr>
        <p:spPr>
          <a:xfrm>
            <a:off x="723960" y="3426480"/>
            <a:ext cx="345060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tabLst>
                <a:tab pos="0" algn="l"/>
              </a:tabLst>
            </a:pPr>
            <a:r>
              <a:rPr lang="ru" sz="14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Безопасная контейнеризация сервисов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214;p33"/>
          <p:cNvSpPr/>
          <p:nvPr/>
        </p:nvSpPr>
        <p:spPr>
          <a:xfrm>
            <a:off x="360000" y="348480"/>
            <a:ext cx="7851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30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Дорожная карта</a:t>
            </a:r>
            <a:endParaRPr lang="ru-R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Google Shape;215;p33"/>
          <p:cNvSpPr/>
          <p:nvPr/>
        </p:nvSpPr>
        <p:spPr>
          <a:xfrm>
            <a:off x="360000" y="740160"/>
            <a:ext cx="7851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Что нам предстоит сделать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4" name=""/>
          <p:cNvGraphicFramePr/>
          <p:nvPr/>
        </p:nvGraphicFramePr>
        <p:xfrm>
          <a:off x="122760" y="1281600"/>
          <a:ext cx="4736880" cy="3296160"/>
        </p:xfrm>
        <a:graphic>
          <a:graphicData uri="http://schemas.openxmlformats.org/drawingml/2006/table">
            <a:tbl>
              <a:tblPr/>
              <a:tblGrid>
                <a:gridCol w="788760"/>
                <a:gridCol w="788760"/>
                <a:gridCol w="788400"/>
                <a:gridCol w="1223280"/>
                <a:gridCol w="1148040"/>
              </a:tblGrid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Этап</a:t>
                      </a:r>
                      <a:endParaRPr lang="ru-RU" sz="1000" b="1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Недели</a:t>
                      </a:r>
                      <a:endParaRPr lang="ru-RU" sz="1000" b="1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Статус</a:t>
                      </a:r>
                      <a:endParaRPr lang="ru-RU" sz="1000" b="1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Содержание работ</a:t>
                      </a:r>
                      <a:endParaRPr lang="ru-RU" sz="1000" b="1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Результат</a:t>
                      </a:r>
                      <a:endParaRPr lang="ru-RU" sz="1000" b="1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</a:tr>
              <a:tr h="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Анализ и уточнение требований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1–5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Завершён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Cбор требований к безопасности, протоколы шифрования, требования к изоляции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ТЗ, критерии приёмки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</a:tr>
              <a:tr h="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Проектирование архитектуры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6–7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 Текущий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Выбор стека, схема БД, API, план развёртывания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Архитектурная схема, API, Docker-план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Настройка серверной части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7–9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 Запланирован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Развёртывание серверной части, интеграция с БД, аутентификация и права доступа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Работающий серверный контейнер в локальной сети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</a:tr>
              <a:tr h="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Разработка клиентского приложения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8–11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 Запланирован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Интерфейс на Next.js: чат, контакты, отправка файлов, группы, оффлайн-режим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Клиентское приложение для работы внутри сети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5" name=""/>
          <p:cNvGraphicFramePr/>
          <p:nvPr/>
        </p:nvGraphicFramePr>
        <p:xfrm>
          <a:off x="5109840" y="765720"/>
          <a:ext cx="3359880" cy="1659240"/>
        </p:xfrm>
        <a:graphic>
          <a:graphicData uri="http://schemas.openxmlformats.org/drawingml/2006/table">
            <a:tbl>
              <a:tblPr/>
              <a:tblGrid>
                <a:gridCol w="812880"/>
                <a:gridCol w="377280"/>
                <a:gridCol w="637920"/>
                <a:gridCol w="812880"/>
                <a:gridCol w="718920"/>
              </a:tblGrid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Этап</a:t>
                      </a:r>
                      <a:endParaRPr lang="ru-RU" sz="900" b="1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Недели</a:t>
                      </a:r>
                      <a:endParaRPr lang="ru-RU" sz="900" b="1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Статус</a:t>
                      </a:r>
                      <a:endParaRPr lang="ru-RU" sz="900" b="1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Содержание работ</a:t>
                      </a:r>
                      <a:endParaRPr lang="ru-RU" sz="900" b="1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Результат</a:t>
                      </a:r>
                      <a:endParaRPr lang="ru-RU" sz="900" b="1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</a:tr>
              <a:tr h="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Интеграция и шифрование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11–12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 Запланирован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Связка клиента с сервером, базовое шифрование, передача файлов, групповые чаты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Интегрированный прототип с шифрованием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</a:tr>
              <a:tr h="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Тестирование и отладка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12–14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 Запланирован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Функциональное тестирование, исправление багов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Отчёт о тестировании, стабильный прототип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Подготовка демонстрации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15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 Запланирован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Развёртывание на изолированном стенде, сценарий демо, презентация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Демо-стенд, презентация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</a:tr>
              <a:tr h="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Защита прототипа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16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 Запланирован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Презентация, сбор обратной связи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ru-RU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Защита проекта, план развития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220;p34"/>
          <p:cNvSpPr/>
          <p:nvPr/>
        </p:nvSpPr>
        <p:spPr>
          <a:xfrm>
            <a:off x="360000" y="348480"/>
            <a:ext cx="7851240" cy="5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3000" b="1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Команда проекта</a:t>
            </a:r>
            <a:endParaRPr lang="ru-R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Google Shape;221;p34"/>
          <p:cNvSpPr/>
          <p:nvPr/>
        </p:nvSpPr>
        <p:spPr>
          <a:xfrm>
            <a:off x="360000" y="740160"/>
            <a:ext cx="7851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00" b="0" u="none" strike="noStrike">
                <a:solidFill>
                  <a:srgbClr val="D6EDFF"/>
                </a:solidFill>
                <a:effectLst/>
                <a:uFillTx/>
                <a:latin typeface="Arial"/>
                <a:ea typeface="Arial"/>
              </a:rPr>
              <a:t>А нужно ли?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</TotalTime>
  <Application>LibreOffice/26.8.0.3$Windows_X86_64 LibreOffice_project/bce0998afefdbc355585ca324285661a2170ba77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ru-RU</dc:language>
  <cp:lastModifiedBy/>
  <dcterms:modified xsi:type="dcterms:W3CDTF">2026-10-07T23:03:51Z</dcterms:modified>
  <cp:revision>1</cp:revision>
  <dc:subject/>
  <dc:title/>
</cp:coreProperties>
</file>