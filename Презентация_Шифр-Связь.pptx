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5143500" type="screen16x9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61" d="100"/>
          <a:sy n="161" d="100"/>
        </p:scale>
        <p:origin x="26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9999"/>
          </a:bodyPr>
          <a:lstStyle>
            <a:lvl1pPr indent="0" algn="l">
              <a:buNone/>
              <a:defRPr lang="ru-RU" sz="5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8191B3-DCD7-4FFE-BBA1-659DB848608D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 hasCustomPrompt="1"/>
          </p:nvPr>
        </p:nvSpPr>
        <p:spPr>
          <a:xfrm>
            <a:off x="311760" y="1106280"/>
            <a:ext cx="8520120" cy="1963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9999"/>
          </a:bodyPr>
          <a:lstStyle>
            <a:lvl1pPr indent="0" algn="ctr">
              <a:lnSpc>
                <a:spcPct val="100000"/>
              </a:lnSpc>
              <a:buNone/>
              <a:defRPr lang="ru-RU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lang="ru-RU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ru-RU" sz="1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20120" cy="130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5667BCD-3BFA-480C-A28B-966C2E54D836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0818501-A27A-458E-BF22-953334FECE3B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20120" cy="84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77500" lnSpcReduction="19999"/>
          </a:bodyPr>
          <a:lstStyle>
            <a:lvl1pPr indent="0" algn="l">
              <a:buNone/>
              <a:defRPr lang="ru-RU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B8FE030-CC6B-46BA-A6D4-EB6A6B90B82A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buNone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12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084CD2-730C-43C8-9033-AA08A224AE3C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buNone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85000"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049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049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049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85000"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049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049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049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459F819-428D-4AF6-AD27-AA6A0CABBEA6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buNone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C6F1B77-6FEE-4EE7-B3FD-D950F572B7DD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640" cy="755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62500" lnSpcReduction="19999"/>
          </a:bodyPr>
          <a:lstStyle>
            <a:lvl1pPr indent="0" algn="l">
              <a:buNone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764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049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049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049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049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4941799-E6F5-49D9-BFAC-E626D1518839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732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l">
              <a:buNone/>
              <a:def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4D8FBA8-3C4E-4A9C-BF5F-A19430B20E33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36;p9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4960" cy="1482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77500" lnSpcReduction="19999"/>
          </a:bodyPr>
          <a:lstStyle>
            <a:lvl1pPr indent="0" algn="l">
              <a:buNone/>
              <a:defRPr lang="ru-RU" sz="4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7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27" name="PlaceHolder 3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47E5E4C-3046-4AA7-939A-90B7C86407C7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8320" cy="604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F31EDB8-F360-4B3D-88BD-4DE4B1BFE9A9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Обычный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2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ftr" idx="13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32" name="PlaceHolder 3"/>
          <p:cNvSpPr>
            <a:spLocks noGrp="1"/>
          </p:cNvSpPr>
          <p:nvPr>
            <p:ph type="sldNum" idx="14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C1ACF37-BB56-4F88-AB24-30A1ED60376B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VERTICAL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rmAutofit lnSpcReduction="9999"/>
          </a:bodyPr>
          <a:lstStyle>
            <a:lvl1pPr indent="0" algn="l">
              <a:buNone/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 rot="5400000">
            <a:off x="2940480" y="-942480"/>
            <a:ext cx="3263040" cy="788652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37" name="PlaceHolder 3"/>
          <p:cNvSpPr>
            <a:spLocks noGrp="1"/>
          </p:cNvSpPr>
          <p:nvPr>
            <p:ph type="dt" idx="15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</a:p>
        </p:txBody>
      </p:sp>
      <p:sp>
        <p:nvSpPr>
          <p:cNvPr id="38" name="PlaceHolder 4"/>
          <p:cNvSpPr>
            <a:spLocks noGrp="1"/>
          </p:cNvSpPr>
          <p:nvPr>
            <p:ph type="ftr" idx="16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39" name="PlaceHolder 5"/>
          <p:cNvSpPr>
            <a:spLocks noGrp="1"/>
          </p:cNvSpPr>
          <p:nvPr>
            <p:ph type="sldNum" idx="17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ED77D15-A1E9-47A8-986B-BAF90BC6E10A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_TITLE_AND_VERTICAL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 rot="5400000">
            <a:off x="5350320" y="1467360"/>
            <a:ext cx="4358520" cy="19713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rmAutofit/>
          </a:bodyPr>
          <a:lstStyle>
            <a:lvl1pPr indent="0" algn="l">
              <a:buNone/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 rot="5400000">
            <a:off x="1349640" y="-446760"/>
            <a:ext cx="4358520" cy="580032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42" name="PlaceHolder 3"/>
          <p:cNvSpPr>
            <a:spLocks noGrp="1"/>
          </p:cNvSpPr>
          <p:nvPr>
            <p:ph type="dt" idx="18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ftr" idx="19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44" name="PlaceHolder 5"/>
          <p:cNvSpPr>
            <a:spLocks noGrp="1"/>
          </p:cNvSpPr>
          <p:nvPr>
            <p:ph type="sldNum" idx="20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EA18C83-6EB6-4531-80C0-F24B9FA122E2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Обычный 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b">
            <a:normAutofit fontScale="85000" lnSpcReduction="9999"/>
          </a:bodyPr>
          <a:lstStyle>
            <a:lvl1pPr indent="0" algn="l">
              <a:buNone/>
              <a:defRPr lang="ru-RU" sz="4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4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46" name="PlaceHolder 2"/>
          <p:cNvSpPr>
            <a:spLocks noGrp="1"/>
          </p:cNvSpPr>
          <p:nvPr>
            <p:ph type="dt" idx="21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</a:p>
        </p:txBody>
      </p:sp>
      <p:sp>
        <p:nvSpPr>
          <p:cNvPr id="47" name="PlaceHolder 3"/>
          <p:cNvSpPr>
            <a:spLocks noGrp="1"/>
          </p:cNvSpPr>
          <p:nvPr>
            <p:ph type="ftr" idx="22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48" name="PlaceHolder 4"/>
          <p:cNvSpPr>
            <a:spLocks noGrp="1"/>
          </p:cNvSpPr>
          <p:nvPr>
            <p:ph type="sldNum" idx="23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35E3B16-131A-40E8-AA24-7187AC5E3448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BJEC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rmAutofit lnSpcReduction="9999"/>
          </a:bodyPr>
          <a:lstStyle>
            <a:lvl1pPr indent="0" algn="l">
              <a:buNone/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520" cy="326304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dt" idx="24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ftr" idx="25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53" name="PlaceHolder 5"/>
          <p:cNvSpPr>
            <a:spLocks noGrp="1"/>
          </p:cNvSpPr>
          <p:nvPr>
            <p:ph type="sldNum" idx="26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F819BA0-DA3D-447A-948A-F63617944245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Обычный 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23880" y="1282320"/>
            <a:ext cx="7886520" cy="213912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b">
            <a:normAutofit/>
          </a:bodyPr>
          <a:lstStyle>
            <a:lvl1pPr indent="0" algn="l">
              <a:buNone/>
              <a:defRPr lang="ru-RU" sz="4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4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23880" y="3441960"/>
            <a:ext cx="7886520" cy="11250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4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dt" idx="27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</a:p>
        </p:txBody>
      </p:sp>
      <p:sp>
        <p:nvSpPr>
          <p:cNvPr id="57" name="PlaceHolder 4"/>
          <p:cNvSpPr>
            <a:spLocks noGrp="1"/>
          </p:cNvSpPr>
          <p:nvPr>
            <p:ph type="ftr" idx="28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58" name="PlaceHolder 5"/>
          <p:cNvSpPr>
            <a:spLocks noGrp="1"/>
          </p:cNvSpPr>
          <p:nvPr>
            <p:ph type="sldNum" idx="29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F51CD4B-ABAF-4735-8D67-D9BF7263F592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_OBJECT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rmAutofit lnSpcReduction="9999"/>
          </a:bodyPr>
          <a:lstStyle>
            <a:lvl1pPr indent="0" algn="l">
              <a:buNone/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85840" cy="326304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62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4629240" y="1369080"/>
            <a:ext cx="3885840" cy="326304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62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62" name="PlaceHolder 4"/>
          <p:cNvSpPr>
            <a:spLocks noGrp="1"/>
          </p:cNvSpPr>
          <p:nvPr>
            <p:ph type="dt" idx="30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</a:p>
        </p:txBody>
      </p:sp>
      <p:sp>
        <p:nvSpPr>
          <p:cNvPr id="63" name="PlaceHolder 5"/>
          <p:cNvSpPr>
            <a:spLocks noGrp="1"/>
          </p:cNvSpPr>
          <p:nvPr>
            <p:ph type="ftr" idx="31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64" name="PlaceHolder 6"/>
          <p:cNvSpPr>
            <a:spLocks noGrp="1"/>
          </p:cNvSpPr>
          <p:nvPr>
            <p:ph type="sldNum" idx="32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279C748-61DE-4E56-8385-F72E5E1826BF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_OBJECTS_WITH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30000" y="273960"/>
            <a:ext cx="7886520" cy="9939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rmAutofit lnSpcReduction="9999"/>
          </a:bodyPr>
          <a:lstStyle>
            <a:lvl1pPr indent="0" algn="l">
              <a:buNone/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30000" y="1260720"/>
            <a:ext cx="3868200" cy="6177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b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30000" y="1878840"/>
            <a:ext cx="3868200" cy="27633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5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4629240" y="1260720"/>
            <a:ext cx="3886920" cy="6177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b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69" name="PlaceHolder 5"/>
          <p:cNvSpPr>
            <a:spLocks noGrp="1"/>
          </p:cNvSpPr>
          <p:nvPr>
            <p:ph type="body"/>
          </p:nvPr>
        </p:nvSpPr>
        <p:spPr>
          <a:xfrm>
            <a:off x="4629240" y="1878840"/>
            <a:ext cx="3886920" cy="27633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5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70" name="PlaceHolder 6"/>
          <p:cNvSpPr>
            <a:spLocks noGrp="1"/>
          </p:cNvSpPr>
          <p:nvPr>
            <p:ph type="dt" idx="33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</a:p>
        </p:txBody>
      </p:sp>
      <p:sp>
        <p:nvSpPr>
          <p:cNvPr id="71" name="PlaceHolder 7"/>
          <p:cNvSpPr>
            <a:spLocks noGrp="1"/>
          </p:cNvSpPr>
          <p:nvPr>
            <p:ph type="ftr" idx="34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72" name="PlaceHolder 8"/>
          <p:cNvSpPr>
            <a:spLocks noGrp="1"/>
          </p:cNvSpPr>
          <p:nvPr>
            <p:ph type="sldNum" idx="35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7866BAA-303F-446B-8AFA-63D89372DC8D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Обычный 3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rmAutofit lnSpcReduction="9999"/>
          </a:bodyPr>
          <a:lstStyle>
            <a:lvl1pPr indent="0" algn="l">
              <a:buNone/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74" name="PlaceHolder 2"/>
          <p:cNvSpPr>
            <a:spLocks noGrp="1"/>
          </p:cNvSpPr>
          <p:nvPr>
            <p:ph type="dt" idx="36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</a:p>
        </p:txBody>
      </p:sp>
      <p:sp>
        <p:nvSpPr>
          <p:cNvPr id="75" name="PlaceHolder 3"/>
          <p:cNvSpPr>
            <a:spLocks noGrp="1"/>
          </p:cNvSpPr>
          <p:nvPr>
            <p:ph type="ftr" idx="37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76" name="PlaceHolder 4"/>
          <p:cNvSpPr>
            <a:spLocks noGrp="1"/>
          </p:cNvSpPr>
          <p:nvPr>
            <p:ph type="sldNum" idx="38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84DA14A-1F14-41E7-A152-855F3CE3C55B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BJECT_WITH_CAPTIO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30000" y="343080"/>
            <a:ext cx="2948760" cy="119988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b">
            <a:normAutofit/>
          </a:bodyPr>
          <a:lstStyle>
            <a:lvl1pPr indent="0" algn="l">
              <a:buNone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3887280" y="740520"/>
            <a:ext cx="4628880" cy="365472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7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808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3618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324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324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324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324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630000" y="1542960"/>
            <a:ext cx="2948760" cy="28584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32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80" name="PlaceHolder 4"/>
          <p:cNvSpPr>
            <a:spLocks noGrp="1"/>
          </p:cNvSpPr>
          <p:nvPr>
            <p:ph type="dt" idx="39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</a:p>
        </p:txBody>
      </p:sp>
      <p:sp>
        <p:nvSpPr>
          <p:cNvPr id="81" name="PlaceHolder 5"/>
          <p:cNvSpPr>
            <a:spLocks noGrp="1"/>
          </p:cNvSpPr>
          <p:nvPr>
            <p:ph type="ftr" idx="40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82" name="PlaceHolder 6"/>
          <p:cNvSpPr>
            <a:spLocks noGrp="1"/>
          </p:cNvSpPr>
          <p:nvPr>
            <p:ph type="sldNum" idx="41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0025758-CF16-4561-A91D-0999B699C249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_WITH_CAPTIO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30000" y="343080"/>
            <a:ext cx="2948760" cy="119988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b">
            <a:normAutofit/>
          </a:bodyPr>
          <a:lstStyle>
            <a:lvl1pPr indent="0" algn="l">
              <a:buNone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84" name="PlaceHolder 2"/>
          <p:cNvSpPr>
            <a:spLocks noGrp="1"/>
          </p:cNvSpPr>
          <p:nvPr>
            <p:ph type="pic"/>
          </p:nvPr>
        </p:nvSpPr>
        <p:spPr>
          <a:xfrm>
            <a:off x="3887280" y="740520"/>
            <a:ext cx="4628880" cy="3654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noAutofit/>
          </a:bodyPr>
          <a:lstStyle/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Добавьте изображение двойным щелчком мыши</a:t>
            </a:r>
          </a:p>
        </p:txBody>
      </p:sp>
      <p:sp>
        <p:nvSpPr>
          <p:cNvPr id="85" name="PlaceHolder 3"/>
          <p:cNvSpPr>
            <a:spLocks noGrp="1"/>
          </p:cNvSpPr>
          <p:nvPr>
            <p:ph type="body"/>
          </p:nvPr>
        </p:nvSpPr>
        <p:spPr>
          <a:xfrm>
            <a:off x="630000" y="1542960"/>
            <a:ext cx="2948760" cy="28584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32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  <p:sp>
        <p:nvSpPr>
          <p:cNvPr id="86" name="PlaceHolder 4"/>
          <p:cNvSpPr>
            <a:spLocks noGrp="1"/>
          </p:cNvSpPr>
          <p:nvPr>
            <p:ph type="dt" idx="42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</a:p>
        </p:txBody>
      </p:sp>
      <p:sp>
        <p:nvSpPr>
          <p:cNvPr id="87" name="PlaceHolder 5"/>
          <p:cNvSpPr>
            <a:spLocks noGrp="1"/>
          </p:cNvSpPr>
          <p:nvPr>
            <p:ph type="ftr" idx="43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88" name="PlaceHolder 6"/>
          <p:cNvSpPr>
            <a:spLocks noGrp="1"/>
          </p:cNvSpPr>
          <p:nvPr>
            <p:ph type="sldNum" idx="44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00B0796-9A3C-4209-BCE6-020EA7424B67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129;p25"/>
          <p:cNvSpPr/>
          <p:nvPr/>
        </p:nvSpPr>
        <p:spPr>
          <a:xfrm>
            <a:off x="6767640" y="4633560"/>
            <a:ext cx="2122560" cy="253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2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#МЫСОЗДАЁМДВИЖЕНИЕ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130;p25"/>
          <p:cNvSpPr/>
          <p:nvPr/>
        </p:nvSpPr>
        <p:spPr>
          <a:xfrm>
            <a:off x="6669000" y="360360"/>
            <a:ext cx="2221200" cy="253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2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ЗАЩИТА КОНЦЕПЦИЙ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31;p25"/>
          <p:cNvSpPr/>
          <p:nvPr/>
        </p:nvSpPr>
        <p:spPr>
          <a:xfrm>
            <a:off x="733680" y="1470240"/>
            <a:ext cx="7011000" cy="62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6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ШИФР-СВЯЗЬ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2;p25"/>
          <p:cNvSpPr/>
          <p:nvPr/>
        </p:nvSpPr>
        <p:spPr>
          <a:xfrm>
            <a:off x="733680" y="3571200"/>
            <a:ext cx="3767040" cy="74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Программа обучения: Инфокоммуникационные технологии и системы связи (11.03.02)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Группа: ШМС-211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3;p25"/>
          <p:cNvSpPr/>
          <p:nvPr/>
        </p:nvSpPr>
        <p:spPr>
          <a:xfrm>
            <a:off x="733680" y="2567880"/>
            <a:ext cx="45716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4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Система безопасной локальной связи диспетчеров “Шифр-Связь”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4;p25"/>
          <p:cNvSpPr/>
          <p:nvPr/>
        </p:nvSpPr>
        <p:spPr>
          <a:xfrm>
            <a:off x="733680" y="3052800"/>
            <a:ext cx="4571640" cy="38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4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0000-00-0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5;p25"/>
          <p:cNvSpPr/>
          <p:nvPr/>
        </p:nvSpPr>
        <p:spPr>
          <a:xfrm>
            <a:off x="4501080" y="3571200"/>
            <a:ext cx="4571640" cy="10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Наставник: </a:t>
            </a:r>
            <a:r>
              <a:rPr lang="ru" sz="11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Волкова Е.А. </a:t>
            </a:r>
            <a:br>
              <a:rPr sz="1100"/>
            </a:br>
            <a:r>
              <a:rPr lang="ru" sz="11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Команда: </a:t>
            </a:r>
            <a:r>
              <a:rPr lang="ru" sz="11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Митрофанов Д.Р.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Воронин К.В.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Дороднев Д.А.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Ташкаев А.А.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Грекова У.В.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140;p26"/>
          <p:cNvSpPr/>
          <p:nvPr/>
        </p:nvSpPr>
        <p:spPr>
          <a:xfrm>
            <a:off x="360000" y="348480"/>
            <a:ext cx="4314600" cy="530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Текущая ситуация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41;p26"/>
          <p:cNvSpPr/>
          <p:nvPr/>
        </p:nvSpPr>
        <p:spPr>
          <a:xfrm>
            <a:off x="360000" y="1177560"/>
            <a:ext cx="7851240" cy="62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 dirty="0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Диспетчерам необходимо быстро и оперативно обмениваться данными в процессе работы.</a:t>
            </a:r>
            <a:endParaRPr lang="ru-RU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42;p26"/>
          <p:cNvSpPr/>
          <p:nvPr/>
        </p:nvSpPr>
        <p:spPr>
          <a:xfrm>
            <a:off x="360000" y="1944720"/>
            <a:ext cx="7851240" cy="73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1" u="none" strike="noStrike" dirty="0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Проблема:</a:t>
            </a:r>
            <a:r>
              <a:rPr lang="ru" sz="1800" b="0" u="none" strike="noStrike" dirty="0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 У диспетчеров на данный момент отсутствует безопасный, удобный и быстрый способ обменом информации</a:t>
            </a:r>
            <a:endParaRPr lang="ru-RU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143;p26"/>
          <p:cNvSpPr/>
          <p:nvPr/>
        </p:nvSpPr>
        <p:spPr>
          <a:xfrm>
            <a:off x="360000" y="2703600"/>
            <a:ext cx="7851240" cy="184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1" u="none" strike="noStrike" dirty="0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Барьеры нынешних решений:</a:t>
            </a:r>
            <a:r>
              <a:rPr lang="ru" sz="1800" b="0" u="none" strike="noStrike" dirty="0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 Использование публичных сервисов создаёт риски перехвата сообщений третьими лицами, даже при использовании отечественных сервисов. Кроме того, работа публичных мессенджеров требует подключения к интернету, что невозможно или нежелательно в закрытой и изолированной локальной сети предприятия.</a:t>
            </a:r>
            <a:endParaRPr lang="ru-RU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48;p27"/>
          <p:cNvSpPr/>
          <p:nvPr/>
        </p:nvSpPr>
        <p:spPr>
          <a:xfrm>
            <a:off x="360000" y="348480"/>
            <a:ext cx="4314600" cy="530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Текущая ситуация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49;p27"/>
          <p:cNvSpPr/>
          <p:nvPr/>
        </p:nvSpPr>
        <p:spPr>
          <a:xfrm>
            <a:off x="1265400" y="831600"/>
            <a:ext cx="192204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Стейкхолдеры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2" name="Google Shape;150;p27"/>
          <p:cNvPicPr/>
          <p:nvPr/>
        </p:nvPicPr>
        <p:blipFill>
          <a:blip r:embed="rId3"/>
          <a:stretch/>
        </p:blipFill>
        <p:spPr>
          <a:xfrm>
            <a:off x="360000" y="1177920"/>
            <a:ext cx="3732840" cy="3727800"/>
          </a:xfrm>
          <a:prstGeom prst="rect">
            <a:avLst/>
          </a:prstGeom>
          <a:noFill/>
          <a:ln w="38100">
            <a:solidFill>
              <a:srgbClr val="D6EDFF"/>
            </a:solidFill>
            <a:round/>
          </a:ln>
        </p:spPr>
      </p:pic>
      <p:sp>
        <p:nvSpPr>
          <p:cNvPr id="103" name="Google Shape;151;p27"/>
          <p:cNvSpPr/>
          <p:nvPr/>
        </p:nvSpPr>
        <p:spPr>
          <a:xfrm>
            <a:off x="4674960" y="831600"/>
            <a:ext cx="400392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Выводы из проблемного интервью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52;p27"/>
          <p:cNvSpPr/>
          <p:nvPr/>
        </p:nvSpPr>
        <p:spPr>
          <a:xfrm>
            <a:off x="4674960" y="1177920"/>
            <a:ext cx="4314600" cy="36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 marL="457200" indent="-33012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</a:pPr>
            <a:r>
              <a:rPr lang="ru" sz="1600" b="0" u="none" strike="noStrike" dirty="0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Скорость обмена данными критична для операционной работы и экстренных ситуаций.</a:t>
            </a:r>
            <a:endParaRPr lang="ru-RU" sz="1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3012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</a:pPr>
            <a:r>
              <a:rPr lang="ru" sz="1600" b="0" u="none" strike="noStrike" dirty="0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Внутренняя почта не подходит для оперативного (синхронного) общения.</a:t>
            </a:r>
            <a:endParaRPr lang="ru-RU" sz="1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3012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</a:pPr>
            <a:r>
              <a:rPr lang="ru" sz="1600" b="0" u="none" strike="noStrike" dirty="0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Пользователям важен привычный UX (возможность отправлять файлы, фото, создавать групповые чаты).</a:t>
            </a:r>
            <a:endParaRPr lang="ru-RU" sz="1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3012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</a:pPr>
            <a:r>
              <a:rPr lang="ru" sz="1600" b="0" u="none" strike="noStrike" dirty="0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Трафик не должен покидать периметр локальной сети.</a:t>
            </a:r>
            <a:endParaRPr lang="ru-RU" sz="1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3012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</a:pPr>
            <a:r>
              <a:rPr lang="ru" sz="1600" b="0" u="none" strike="noStrike" dirty="0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Требуется возможность аудита и контроля.</a:t>
            </a:r>
            <a:endParaRPr lang="ru-RU" sz="1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3012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</a:pPr>
            <a:r>
              <a:rPr lang="ru" sz="1600" b="0" u="none" strike="noStrike" dirty="0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Полное отсутствие зависимости от внешнего интернета.</a:t>
            </a:r>
            <a:endParaRPr lang="ru-RU" sz="1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57;p28"/>
          <p:cNvSpPr/>
          <p:nvPr/>
        </p:nvSpPr>
        <p:spPr>
          <a:xfrm>
            <a:off x="366480" y="275760"/>
            <a:ext cx="4314600" cy="530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Анализ аналогов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58;p28"/>
          <p:cNvSpPr/>
          <p:nvPr/>
        </p:nvSpPr>
        <p:spPr>
          <a:xfrm>
            <a:off x="366480" y="697320"/>
            <a:ext cx="841068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Подходящее решение отсутствует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7" name="Google Shape;159;p28"/>
          <p:cNvGraphicFramePr/>
          <p:nvPr/>
        </p:nvGraphicFramePr>
        <p:xfrm>
          <a:off x="366480" y="1043640"/>
          <a:ext cx="8411040" cy="3936240"/>
        </p:xfrm>
        <a:graphic>
          <a:graphicData uri="http://schemas.openxmlformats.org/drawingml/2006/table">
            <a:tbl>
              <a:tblPr/>
              <a:tblGrid>
                <a:gridCol w="2222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05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700"/>
                        </a:spcAft>
                        <a:tabLst>
                          <a:tab pos="0" algn="l"/>
                        </a:tabLst>
                      </a:pPr>
                      <a:r>
                        <a:rPr lang="ru" sz="1400" b="1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Nextcloud Talk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 marT="91080" marB="91080" anchor="ctr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0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Ориентирован на видеоконференции, избыточный функционал. Так же сам по себе слишком “тяжёлый”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400" b="1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MAX, Telegram, VK и др.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 marT="91080" marB="91080" anchor="ctr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0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Требуют постоянного интернет подключения, что является риском, даже если сервера отечественные.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400" b="1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XMPP-сервер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 marT="91080" marB="91080" anchor="ctr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0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Устаревший как UX так и сам по себе, фрагментация и расхождения в функционале клиентов.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062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400" b="1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Mattermost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 marT="91080" marB="91080" anchor="ctr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0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Самый близкий кандидат, однако данный продукт слишком ресурсозатраный для установки/поддержки и избыток ненужного для диспетчеров функционала. Так же требует интернет для проверки Enterprise лицензии.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8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400" b="1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Matrix/Element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 marT="91080" marB="91080" anchor="ctr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0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По своей сути предназначены для открытого интернета и межорганизационного общения. Трудно поддерживать в оффлайне, а также ресурсоёмкий.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64;p29"/>
          <p:cNvSpPr/>
          <p:nvPr/>
        </p:nvSpPr>
        <p:spPr>
          <a:xfrm>
            <a:off x="278280" y="317880"/>
            <a:ext cx="2737440" cy="530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Проблема 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65;p29"/>
          <p:cNvSpPr/>
          <p:nvPr/>
        </p:nvSpPr>
        <p:spPr>
          <a:xfrm>
            <a:off x="333000" y="1361160"/>
            <a:ext cx="1496880" cy="23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166;p29"/>
          <p:cNvSpPr/>
          <p:nvPr/>
        </p:nvSpPr>
        <p:spPr>
          <a:xfrm>
            <a:off x="469800" y="1264680"/>
            <a:ext cx="1462320" cy="564480"/>
          </a:xfrm>
          <a:prstGeom prst="roundRect">
            <a:avLst>
              <a:gd name="adj" fmla="val 16667"/>
            </a:avLst>
          </a:prstGeom>
          <a:solidFill>
            <a:srgbClr val="D6EDFF"/>
          </a:solidFill>
          <a:ln w="7150">
            <a:solidFill>
              <a:srgbClr val="D6E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68400" rIns="68400" bIns="684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1600" b="0" u="none" strike="noStrike" dirty="0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У кого</a:t>
            </a:r>
            <a:endParaRPr lang="ru-RU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67;p29"/>
          <p:cNvSpPr/>
          <p:nvPr/>
        </p:nvSpPr>
        <p:spPr>
          <a:xfrm>
            <a:off x="469800" y="1977840"/>
            <a:ext cx="1462320" cy="564480"/>
          </a:xfrm>
          <a:prstGeom prst="roundRect">
            <a:avLst>
              <a:gd name="adj" fmla="val 16667"/>
            </a:avLst>
          </a:prstGeom>
          <a:solidFill>
            <a:srgbClr val="D6EDFF"/>
          </a:solidFill>
          <a:ln w="7150">
            <a:solidFill>
              <a:srgbClr val="D6E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68400" rIns="68400" bIns="684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15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есть потребность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168;p29"/>
          <p:cNvSpPr/>
          <p:nvPr/>
        </p:nvSpPr>
        <p:spPr>
          <a:xfrm>
            <a:off x="469800" y="2645640"/>
            <a:ext cx="1462320" cy="564480"/>
          </a:xfrm>
          <a:prstGeom prst="roundRect">
            <a:avLst>
              <a:gd name="adj" fmla="val 16667"/>
            </a:avLst>
          </a:prstGeom>
          <a:solidFill>
            <a:srgbClr val="D6EDFF"/>
          </a:solidFill>
          <a:ln w="7150">
            <a:solidFill>
              <a:srgbClr val="D6E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68400" rIns="68400" bIns="684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14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но что-то ему мешает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69;p29"/>
          <p:cNvSpPr/>
          <p:nvPr/>
        </p:nvSpPr>
        <p:spPr>
          <a:xfrm>
            <a:off x="469800" y="3313800"/>
            <a:ext cx="1462320" cy="564480"/>
          </a:xfrm>
          <a:prstGeom prst="roundRect">
            <a:avLst>
              <a:gd name="adj" fmla="val 16667"/>
            </a:avLst>
          </a:prstGeom>
          <a:solidFill>
            <a:srgbClr val="D6EDFF"/>
          </a:solidFill>
          <a:ln w="7150">
            <a:solidFill>
              <a:srgbClr val="D6E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68400" rIns="68400" bIns="684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9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а имеющиеся решения не подходят, потому что…</a:t>
            </a:r>
            <a:endParaRPr lang="ru-RU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70;p29"/>
          <p:cNvSpPr/>
          <p:nvPr/>
        </p:nvSpPr>
        <p:spPr>
          <a:xfrm>
            <a:off x="2019600" y="1264680"/>
            <a:ext cx="6757200" cy="5644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7150">
            <a:solidFill>
              <a:srgbClr val="A4C2F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68400" rIns="68400" bIns="684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2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У диспетчеров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71;p29"/>
          <p:cNvSpPr/>
          <p:nvPr/>
        </p:nvSpPr>
        <p:spPr>
          <a:xfrm>
            <a:off x="2019600" y="1955160"/>
            <a:ext cx="6757200" cy="5644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7150">
            <a:solidFill>
              <a:srgbClr val="A4C2F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68400" rIns="68400" bIns="684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2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Есть потребность в быстром, безопасном и удобном обмене сообщениями и рабочими данными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72;p29"/>
          <p:cNvSpPr/>
          <p:nvPr/>
        </p:nvSpPr>
        <p:spPr>
          <a:xfrm>
            <a:off x="2019600" y="2645640"/>
            <a:ext cx="6757200" cy="5644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7150">
            <a:solidFill>
              <a:srgbClr val="A4C2F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68400" rIns="68400" bIns="684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2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Им мешает отсутствие подходящего инструмента внутри корпоративной сети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73;p29"/>
          <p:cNvSpPr/>
          <p:nvPr/>
        </p:nvSpPr>
        <p:spPr>
          <a:xfrm>
            <a:off x="2019600" y="3313800"/>
            <a:ext cx="6757200" cy="5644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7150">
            <a:solidFill>
              <a:srgbClr val="A4C2F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68400" rIns="68400" bIns="684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2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Публичные мессенджеры не обеспечивают конфиденциальность, нарушают требования ИБ и не могут функционировать в закрытом контуре без подключения к интернету.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78;p30"/>
          <p:cNvSpPr/>
          <p:nvPr/>
        </p:nvSpPr>
        <p:spPr>
          <a:xfrm>
            <a:off x="360000" y="348480"/>
            <a:ext cx="4314600" cy="530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Цель и задачи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79;p30"/>
          <p:cNvSpPr/>
          <p:nvPr/>
        </p:nvSpPr>
        <p:spPr>
          <a:xfrm>
            <a:off x="360000" y="1232280"/>
            <a:ext cx="7851240" cy="1177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Цель:</a:t>
            </a: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 Разработать систему корпоративного мессенджера «ШИФР-СВЯЗЬ» на базе self-hosted сервера для диспетчеров. Система должна обеспечить быстрый обмен текстовыми и мультимедийными данными в изолированной локальной сети без подключения к Интернет.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80;p30"/>
          <p:cNvSpPr/>
          <p:nvPr/>
        </p:nvSpPr>
        <p:spPr>
          <a:xfrm>
            <a:off x="360000" y="2409840"/>
            <a:ext cx="7851240" cy="2400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Задачи: 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1. Провести детальный сбор требований (UX/UI, функционал, протоколы шифрования, архитектура изоляции).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2. Спроектировать архитектуру self-hosted сервера, способного работать в полностью изолированной локальной сети без шлюзов в интернет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3. Разработать удобные для диспетчеров клиентские приложения для работы с внутренним сервером.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85;p31"/>
          <p:cNvSpPr/>
          <p:nvPr/>
        </p:nvSpPr>
        <p:spPr>
          <a:xfrm>
            <a:off x="360000" y="348480"/>
            <a:ext cx="7851240" cy="530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Требования к решению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86;p31"/>
          <p:cNvSpPr/>
          <p:nvPr/>
        </p:nvSpPr>
        <p:spPr>
          <a:xfrm>
            <a:off x="360000" y="1117080"/>
            <a:ext cx="7851240" cy="145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Решение должно: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Работать полностью автономно без подключения к Интернету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Быть удобным для пользователей и специализированным под задачи диспетчеров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Достаточно безопасным для использования внутри компании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87;p31"/>
          <p:cNvSpPr/>
          <p:nvPr/>
        </p:nvSpPr>
        <p:spPr>
          <a:xfrm>
            <a:off x="360000" y="2809080"/>
            <a:ext cx="7851240" cy="184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Решение должно выполнять функции: 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Быстрый обмен сообщениями (текстовые + файлы)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Организация различных групп, с разными привилегиями для пользователей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Шифрования сообщений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Быстрого отправления частых сообщений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92;p32"/>
          <p:cNvSpPr/>
          <p:nvPr/>
        </p:nvSpPr>
        <p:spPr>
          <a:xfrm>
            <a:off x="360000" y="348480"/>
            <a:ext cx="7851240" cy="530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Архитектура решения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193;p32"/>
          <p:cNvSpPr/>
          <p:nvPr/>
        </p:nvSpPr>
        <p:spPr>
          <a:xfrm>
            <a:off x="360000" y="740160"/>
            <a:ext cx="785124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Клиент-серверная архитектура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194;p32"/>
          <p:cNvSpPr/>
          <p:nvPr/>
        </p:nvSpPr>
        <p:spPr>
          <a:xfrm>
            <a:off x="360000" y="1317240"/>
            <a:ext cx="3814560" cy="46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Серверная часть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95;p32"/>
          <p:cNvSpPr/>
          <p:nvPr/>
        </p:nvSpPr>
        <p:spPr>
          <a:xfrm>
            <a:off x="4572000" y="1317240"/>
            <a:ext cx="3814560" cy="46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Клиентская часть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196;p32"/>
          <p:cNvPicPr/>
          <p:nvPr/>
        </p:nvPicPr>
        <p:blipFill>
          <a:blip r:embed="rId3"/>
          <a:stretch/>
        </p:blipFill>
        <p:spPr>
          <a:xfrm>
            <a:off x="152280" y="1931400"/>
            <a:ext cx="571320" cy="571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29" name="Google Shape;197;p32"/>
          <p:cNvGrpSpPr/>
          <p:nvPr/>
        </p:nvGrpSpPr>
        <p:grpSpPr>
          <a:xfrm>
            <a:off x="-170280" y="2381400"/>
            <a:ext cx="1839960" cy="1034640"/>
            <a:chOff x="-170280" y="2381400"/>
            <a:chExt cx="1839960" cy="1034640"/>
          </a:xfrm>
        </p:grpSpPr>
        <p:pic>
          <p:nvPicPr>
            <p:cNvPr id="130" name="Google Shape;198;p32"/>
            <p:cNvPicPr/>
            <p:nvPr/>
          </p:nvPicPr>
          <p:blipFill>
            <a:blip r:embed="rId4"/>
            <a:stretch/>
          </p:blipFill>
          <p:spPr>
            <a:xfrm>
              <a:off x="-170280" y="2381400"/>
              <a:ext cx="1839960" cy="1034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1" name="Google Shape;199;p32"/>
            <p:cNvPicPr/>
            <p:nvPr/>
          </p:nvPicPr>
          <p:blipFill>
            <a:blip r:embed="rId5"/>
            <a:stretch/>
          </p:blipFill>
          <p:spPr>
            <a:xfrm>
              <a:off x="196200" y="2636280"/>
              <a:ext cx="1106640" cy="5245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32" name="Google Shape;200;p32"/>
          <p:cNvSpPr/>
          <p:nvPr/>
        </p:nvSpPr>
        <p:spPr>
          <a:xfrm>
            <a:off x="360000" y="1779120"/>
            <a:ext cx="3814560" cy="46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InspIRCd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201;p32"/>
          <p:cNvSpPr/>
          <p:nvPr/>
        </p:nvSpPr>
        <p:spPr>
          <a:xfrm>
            <a:off x="723960" y="2010240"/>
            <a:ext cx="34506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4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Модульный, легкий, современный IRC-сервер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02;p32"/>
          <p:cNvSpPr/>
          <p:nvPr/>
        </p:nvSpPr>
        <p:spPr>
          <a:xfrm>
            <a:off x="360000" y="2459520"/>
            <a:ext cx="3814560" cy="46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SQLite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203;p32"/>
          <p:cNvSpPr/>
          <p:nvPr/>
        </p:nvSpPr>
        <p:spPr>
          <a:xfrm>
            <a:off x="1280880" y="2690280"/>
            <a:ext cx="289368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4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Надёжное и лёгкое решение для  DB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6" name="Google Shape;204;p32"/>
          <p:cNvPicPr/>
          <p:nvPr/>
        </p:nvPicPr>
        <p:blipFill>
          <a:blip r:embed="rId6"/>
          <a:stretch/>
        </p:blipFill>
        <p:spPr>
          <a:xfrm>
            <a:off x="4208760" y="1854000"/>
            <a:ext cx="726120" cy="72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Google Shape;205;p32"/>
          <p:cNvSpPr/>
          <p:nvPr/>
        </p:nvSpPr>
        <p:spPr>
          <a:xfrm>
            <a:off x="4572000" y="1777680"/>
            <a:ext cx="3814560" cy="46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Next.js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06;p32"/>
          <p:cNvSpPr/>
          <p:nvPr/>
        </p:nvSpPr>
        <p:spPr>
          <a:xfrm>
            <a:off x="4935960" y="2008800"/>
            <a:ext cx="34506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4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Современный интерфейс с server-side рендерингом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" name="Google Shape;207;p32"/>
          <p:cNvPicPr/>
          <p:nvPr/>
        </p:nvPicPr>
        <p:blipFill>
          <a:blip r:embed="rId7"/>
          <a:stretch/>
        </p:blipFill>
        <p:spPr>
          <a:xfrm>
            <a:off x="152280" y="3459600"/>
            <a:ext cx="584640" cy="46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Google Shape;208;p32"/>
          <p:cNvSpPr/>
          <p:nvPr/>
        </p:nvSpPr>
        <p:spPr>
          <a:xfrm>
            <a:off x="360000" y="3195360"/>
            <a:ext cx="3814560" cy="46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Docker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209;p32"/>
          <p:cNvSpPr/>
          <p:nvPr/>
        </p:nvSpPr>
        <p:spPr>
          <a:xfrm>
            <a:off x="723960" y="3426480"/>
            <a:ext cx="3450600" cy="39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400" b="0" u="none" strike="noStrike" dirty="0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Безопасная контейнеризация сервисов</a:t>
            </a:r>
            <a:endParaRPr lang="ru-RU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214;p33"/>
          <p:cNvSpPr/>
          <p:nvPr/>
        </p:nvSpPr>
        <p:spPr>
          <a:xfrm>
            <a:off x="360000" y="348480"/>
            <a:ext cx="7851240" cy="530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Дорожная карта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215;p33"/>
          <p:cNvSpPr/>
          <p:nvPr/>
        </p:nvSpPr>
        <p:spPr>
          <a:xfrm>
            <a:off x="360000" y="740160"/>
            <a:ext cx="785124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Что нам предстоит сделать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4" name="Таблица 143"/>
          <p:cNvGraphicFramePr/>
          <p:nvPr/>
        </p:nvGraphicFramePr>
        <p:xfrm>
          <a:off x="122760" y="1281600"/>
          <a:ext cx="4737240" cy="3529920"/>
        </p:xfrm>
        <a:graphic>
          <a:graphicData uri="http://schemas.openxmlformats.org/drawingml/2006/table">
            <a:tbl>
              <a:tblPr/>
              <a:tblGrid>
                <a:gridCol w="78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8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6320">
                <a:tc>
                  <a:txBody>
                    <a:bodyPr/>
                    <a:lstStyle/>
                    <a:p>
                      <a:pPr algn="ctr"/>
                      <a:r>
                        <a:rPr lang="ru-RU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Этап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Недели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Статус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Содержание работ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Результат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Анализ и уточнение требований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1–5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Завершён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Cбор требований к безопасности, протоколы шифрования, требования к изоляции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ТЗ, критерии приёмки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Проектирование архитектуры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6–7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Текущий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Выбор стека, схема БД, API, план развёртывания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Архитектурная схема, API, Docker-план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Настройка серверной части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7–9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Запланирован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Развёртывание серверной части, интеграция с БД, аутентификация и права доступа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Работающий серверный контейнер в локальной сети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Разработка клиентского приложения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8–11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Запланирован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Интерфейс на Next.js: чат, контакты, отправка файлов, группы, оффлайн-режим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Клиентское приложение для работы внутри сети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5" name="Таблица 144"/>
          <p:cNvGraphicFramePr/>
          <p:nvPr/>
        </p:nvGraphicFramePr>
        <p:xfrm>
          <a:off x="5109840" y="765720"/>
          <a:ext cx="3359880" cy="4063320"/>
        </p:xfrm>
        <a:graphic>
          <a:graphicData uri="http://schemas.openxmlformats.org/drawingml/2006/table">
            <a:tbl>
              <a:tblPr/>
              <a:tblGrid>
                <a:gridCol w="812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2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8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6320">
                <a:tc>
                  <a:txBody>
                    <a:bodyPr/>
                    <a:lstStyle/>
                    <a:p>
                      <a:pPr algn="ctr"/>
                      <a:r>
                        <a:rPr lang="ru-RU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Этап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Недели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Статус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Содержание работ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Результат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Интеграция и шифрование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11–12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Запланирован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Связка клиента с сервером, базовое шифрование, передача файлов, групповые чаты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Интегрированный прототип с шифрованием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Тестирование и отладка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12–14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Запланирован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Функциональное тестирование, исправление багов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Отчёт о тестировании, стабильный прототип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Подготовка демонстрации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15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Запланирован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Развёртывание на изолированном стенде, сценарий демо, презентация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Демо-стенд, презентация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Защита прототипа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16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Запланирован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Презентация, сбор обратной связи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Защита проекта, план развития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220;p34"/>
          <p:cNvSpPr/>
          <p:nvPr/>
        </p:nvSpPr>
        <p:spPr>
          <a:xfrm>
            <a:off x="360000" y="348480"/>
            <a:ext cx="7851240" cy="530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Команда проекта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F545D-ABCD-3E32-2E05-529BCB351209}"/>
              </a:ext>
            </a:extLst>
          </p:cNvPr>
          <p:cNvSpPr txBox="1"/>
          <p:nvPr/>
        </p:nvSpPr>
        <p:spPr>
          <a:xfrm>
            <a:off x="360000" y="1261706"/>
            <a:ext cx="736331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1" i="0" dirty="0">
                <a:solidFill>
                  <a:srgbClr val="EEF1FF"/>
                </a:solidFill>
                <a:effectLst/>
                <a:latin typeface="Exo 2"/>
              </a:rPr>
              <a:t>Дмитрий Митрофанов</a:t>
            </a:r>
            <a:endParaRPr lang="ru-RU" b="0" i="0" dirty="0">
              <a:solidFill>
                <a:srgbClr val="EEF1FF"/>
              </a:solidFill>
              <a:effectLst/>
              <a:latin typeface="Exo 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EEF1FF"/>
                </a:solidFill>
                <a:effectLst/>
                <a:latin typeface="Exo 2"/>
              </a:rPr>
              <a:t>Лидер проекта</a:t>
            </a:r>
            <a:endParaRPr lang="ru-RU" b="0" i="0" dirty="0">
              <a:solidFill>
                <a:srgbClr val="EEF1FF"/>
              </a:solidFill>
              <a:effectLst/>
              <a:latin typeface="Exo 2"/>
            </a:endParaRPr>
          </a:p>
          <a:p>
            <a:pPr algn="l"/>
            <a:r>
              <a:rPr lang="ru-RU" b="1" i="0" dirty="0">
                <a:solidFill>
                  <a:srgbClr val="EEF1FF"/>
                </a:solidFill>
                <a:effectLst/>
                <a:latin typeface="Exo 2"/>
              </a:rPr>
              <a:t>Климентий Воронин</a:t>
            </a:r>
            <a:endParaRPr lang="ru-RU" b="0" i="0" dirty="0">
              <a:solidFill>
                <a:srgbClr val="EEF1FF"/>
              </a:solidFill>
              <a:effectLst/>
              <a:latin typeface="Exo 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EEF1FF"/>
                </a:solidFill>
                <a:effectLst/>
                <a:latin typeface="Exo 2"/>
              </a:rPr>
              <a:t>Разработчик</a:t>
            </a:r>
            <a:r>
              <a:rPr lang="en-US" b="1" i="0" dirty="0">
                <a:solidFill>
                  <a:srgbClr val="EEF1FF"/>
                </a:solidFill>
                <a:effectLst/>
                <a:latin typeface="Exo 2"/>
              </a:rPr>
              <a:t> ( </a:t>
            </a:r>
            <a:r>
              <a:rPr lang="ru-RU" b="1" i="0" dirty="0">
                <a:solidFill>
                  <a:srgbClr val="EEF1FF"/>
                </a:solidFill>
                <a:effectLst/>
                <a:latin typeface="Exo 2"/>
              </a:rPr>
              <a:t>ответственный за реализацию</a:t>
            </a:r>
            <a:r>
              <a:rPr lang="en-US" b="1" i="0" dirty="0">
                <a:solidFill>
                  <a:srgbClr val="EEF1FF"/>
                </a:solidFill>
                <a:effectLst/>
                <a:latin typeface="Exo 2"/>
              </a:rPr>
              <a:t> </a:t>
            </a:r>
            <a:r>
              <a:rPr lang="en-US" b="1" dirty="0">
                <a:solidFill>
                  <a:srgbClr val="EEF1FF"/>
                </a:solidFill>
                <a:latin typeface="Exo 2"/>
              </a:rPr>
              <a:t>UI )</a:t>
            </a:r>
            <a:endParaRPr lang="ru-RU" b="0" i="0" dirty="0">
              <a:solidFill>
                <a:srgbClr val="EEF1FF"/>
              </a:solidFill>
              <a:effectLst/>
              <a:latin typeface="Exo 2"/>
            </a:endParaRPr>
          </a:p>
          <a:p>
            <a:pPr algn="l"/>
            <a:r>
              <a:rPr lang="ru-RU" b="1" i="0" dirty="0">
                <a:solidFill>
                  <a:srgbClr val="EEF1FF"/>
                </a:solidFill>
                <a:effectLst/>
                <a:latin typeface="Exo 2"/>
              </a:rPr>
              <a:t>Ульяна Грекова</a:t>
            </a:r>
            <a:endParaRPr lang="en-US" b="1" i="0" dirty="0">
              <a:solidFill>
                <a:srgbClr val="EEF1FF"/>
              </a:solidFill>
              <a:effectLst/>
              <a:latin typeface="Exo 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EEF1FF"/>
                </a:solidFill>
                <a:effectLst/>
                <a:latin typeface="Exo 2"/>
              </a:rPr>
              <a:t>Ответственная за презентацию и дизайн</a:t>
            </a:r>
            <a:endParaRPr lang="ru-RU" b="0" i="0" dirty="0">
              <a:solidFill>
                <a:srgbClr val="EEF1FF"/>
              </a:solidFill>
              <a:effectLst/>
              <a:latin typeface="Exo 2"/>
            </a:endParaRPr>
          </a:p>
          <a:p>
            <a:pPr algn="l"/>
            <a:r>
              <a:rPr lang="ru-RU" b="1" i="0" dirty="0">
                <a:solidFill>
                  <a:srgbClr val="EEF1FF"/>
                </a:solidFill>
                <a:effectLst/>
                <a:latin typeface="Exo 2"/>
              </a:rPr>
              <a:t>Даниил </a:t>
            </a:r>
            <a:r>
              <a:rPr lang="ru-RU" b="1" i="0" dirty="0" err="1">
                <a:solidFill>
                  <a:srgbClr val="EEF1FF"/>
                </a:solidFill>
                <a:effectLst/>
                <a:latin typeface="Exo 2"/>
              </a:rPr>
              <a:t>Дороднев</a:t>
            </a:r>
            <a:endParaRPr lang="ru-RU" b="0" i="0" dirty="0">
              <a:solidFill>
                <a:srgbClr val="EEF1FF"/>
              </a:solidFill>
              <a:effectLst/>
              <a:latin typeface="Exo 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EEF1FF"/>
                </a:solidFill>
                <a:effectLst/>
                <a:latin typeface="Exo 2"/>
              </a:rPr>
              <a:t>Разработчик</a:t>
            </a:r>
            <a:r>
              <a:rPr lang="en-US" b="1" i="0" dirty="0">
                <a:solidFill>
                  <a:srgbClr val="EEF1FF"/>
                </a:solidFill>
                <a:effectLst/>
                <a:latin typeface="Exo 2"/>
              </a:rPr>
              <a:t> ( </a:t>
            </a:r>
            <a:r>
              <a:rPr lang="ru-RU" b="1" i="0" dirty="0">
                <a:solidFill>
                  <a:srgbClr val="EEF1FF"/>
                </a:solidFill>
                <a:effectLst/>
                <a:latin typeface="Exo 2"/>
              </a:rPr>
              <a:t>ответственный за серверную часть )</a:t>
            </a:r>
            <a:endParaRPr lang="ru-RU" b="0" i="0" dirty="0">
              <a:solidFill>
                <a:srgbClr val="EEF1FF"/>
              </a:solidFill>
              <a:effectLst/>
              <a:latin typeface="Exo 2"/>
            </a:endParaRPr>
          </a:p>
          <a:p>
            <a:pPr algn="l"/>
            <a:r>
              <a:rPr lang="ru-RU" b="1" i="0" dirty="0">
                <a:solidFill>
                  <a:srgbClr val="EEF1FF"/>
                </a:solidFill>
                <a:effectLst/>
                <a:latin typeface="Exo 2"/>
              </a:rPr>
              <a:t>Александр </a:t>
            </a:r>
            <a:r>
              <a:rPr lang="ru-RU" b="1" i="0" dirty="0" err="1">
                <a:solidFill>
                  <a:srgbClr val="EEF1FF"/>
                </a:solidFill>
                <a:effectLst/>
                <a:latin typeface="Exo 2"/>
              </a:rPr>
              <a:t>Ташкаев</a:t>
            </a:r>
            <a:endParaRPr lang="ru-RU" b="0" i="0" dirty="0">
              <a:solidFill>
                <a:srgbClr val="EEF1FF"/>
              </a:solidFill>
              <a:effectLst/>
              <a:latin typeface="Exo 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EEF1FF"/>
                </a:solidFill>
                <a:effectLst/>
                <a:latin typeface="Exo 2"/>
              </a:rPr>
              <a:t>Аналитик и технический писатель</a:t>
            </a:r>
            <a:endParaRPr lang="ru-RU" b="0" i="0" dirty="0">
              <a:solidFill>
                <a:srgbClr val="EEF1FF"/>
              </a:solidFill>
              <a:effectLst/>
              <a:latin typeface="Exo 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</TotalTime>
  <Words>779</Words>
  <Application>Microsoft Macintosh PowerPoint</Application>
  <PresentationFormat>Экран (16:9)</PresentationFormat>
  <Paragraphs>138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10</vt:i4>
      </vt:variant>
    </vt:vector>
  </HeadingPairs>
  <TitlesOfParts>
    <vt:vector size="18" baseType="lpstr">
      <vt:lpstr>Arial</vt:lpstr>
      <vt:lpstr>Calibri</vt:lpstr>
      <vt:lpstr>Exo 2</vt:lpstr>
      <vt:lpstr>Symbol</vt:lpstr>
      <vt:lpstr>Times New Roman</vt:lpstr>
      <vt:lpstr>Wingdings</vt:lpstr>
      <vt:lpstr>Simple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dc:description/>
  <cp:lastModifiedBy>Klimentiy</cp:lastModifiedBy>
  <cp:revision>14</cp:revision>
  <dcterms:modified xsi:type="dcterms:W3CDTF">2026-10-08T18:06:08Z</dcterms:modified>
  <dc:language>ru-RU</dc:language>
</cp:coreProperties>
</file>