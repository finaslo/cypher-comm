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AFA6D72-EFEA-4E15-A643-8ACE97BC5E85}">
  <a:tblStyle styleId="{EAFA6D72-EFEA-4E15-A643-8ACE97BC5E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h46d00c66c8b7babc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h46d00c66c8b7babc_0_9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h46d00c66c8b7babc_0_1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h46d00c66c8b7babc_0_17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h46d00c66c8b7babc_6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h46d00c66c8b7babc_6_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h46d00c66c8b7babc_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h46d00c66c8b7babc_6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h46d00c66c8b7babc_6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2" name="Google Shape;162;h46d00c66c8b7babc_6_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h46d00c66c8b7babc_6_1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h46d00c66c8b7babc_6_1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h46d00c66c8b7babc_6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h46d00c66c8b7babc_6_13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h46d00c66c8b7babc_24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h46d00c66c8b7babc_24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h46d00c66c8b7babc_24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h46d00c66c8b7babc_24_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h46d00c66c8b7babc_24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h46d00c66c8b7babc_24_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стой слайд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" type="title">
  <p:cSld name="TITLE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63" name="Google Shape;63;p15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объект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раздела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Два объекта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равнение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629841" y="1260872"/>
            <a:ext cx="38685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629841" y="1878806"/>
            <a:ext cx="3868500" cy="2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4629150" y="1878806"/>
            <a:ext cx="3887400" cy="2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олько заголовок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бъект с подписью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Рисунок с подписью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вертикальный текст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Вертикальный заголовок и текст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2.png"/><Relationship Id="rId6" Type="http://schemas.openxmlformats.org/officeDocument/2006/relationships/image" Target="../media/image4.png"/><Relationship Id="rId7" Type="http://schemas.openxmlformats.org/officeDocument/2006/relationships/image" Target="../media/image1.png"/><Relationship Id="rId8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/>
        </p:nvSpPr>
        <p:spPr>
          <a:xfrm>
            <a:off x="6767584" y="4633389"/>
            <a:ext cx="2122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D6EDFF"/>
                </a:solidFill>
                <a:latin typeface="Arial"/>
                <a:ea typeface="Arial"/>
                <a:cs typeface="Arial"/>
                <a:sym typeface="Arial"/>
              </a:rPr>
              <a:t>#МЫСОЗДАЁМДВИЖЕНИЕ</a:t>
            </a:r>
            <a:endParaRPr sz="1200">
              <a:solidFill>
                <a:srgbClr val="D6ED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25"/>
          <p:cNvSpPr txBox="1"/>
          <p:nvPr/>
        </p:nvSpPr>
        <p:spPr>
          <a:xfrm>
            <a:off x="6668875" y="360241"/>
            <a:ext cx="22215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D6EDFF"/>
                </a:solidFill>
              </a:rPr>
              <a:t>ЗАЩИТА КОНЦЕПЦИЙ</a:t>
            </a:r>
            <a:endParaRPr sz="1200">
              <a:solidFill>
                <a:srgbClr val="D6ED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5"/>
          <p:cNvSpPr txBox="1"/>
          <p:nvPr/>
        </p:nvSpPr>
        <p:spPr>
          <a:xfrm>
            <a:off x="733800" y="1470077"/>
            <a:ext cx="70113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3600">
                <a:solidFill>
                  <a:srgbClr val="D6EDFF"/>
                </a:solidFill>
              </a:rPr>
              <a:t>ШИФР-СВЯЗЬ</a:t>
            </a:r>
            <a:endParaRPr b="1" i="0" sz="3600" u="none" cap="none" strike="noStrike">
              <a:solidFill>
                <a:srgbClr val="D6ED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25"/>
          <p:cNvSpPr txBox="1"/>
          <p:nvPr/>
        </p:nvSpPr>
        <p:spPr>
          <a:xfrm>
            <a:off x="733794" y="3571100"/>
            <a:ext cx="3767400" cy="7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ru" sz="1100" u="none" cap="none" strike="noStrike">
                <a:solidFill>
                  <a:srgbClr val="D6EDFF"/>
                </a:solidFill>
              </a:rPr>
              <a:t>Программа обучения:</a:t>
            </a:r>
            <a:r>
              <a:rPr b="1" lang="ru" sz="1100">
                <a:solidFill>
                  <a:srgbClr val="D6EDFF"/>
                </a:solidFill>
              </a:rPr>
              <a:t> </a:t>
            </a:r>
            <a:r>
              <a:rPr b="1" lang="ru" sz="1100">
                <a:solidFill>
                  <a:srgbClr val="D6EDFF"/>
                </a:solidFill>
              </a:rPr>
              <a:t>И</a:t>
            </a:r>
            <a:r>
              <a:rPr b="1" lang="ru" sz="1100">
                <a:solidFill>
                  <a:srgbClr val="D6EDFF"/>
                </a:solidFill>
              </a:rPr>
              <a:t>нфокоммуникационные технологии и системы связи (</a:t>
            </a:r>
            <a:r>
              <a:rPr b="1" lang="ru" sz="1100">
                <a:solidFill>
                  <a:srgbClr val="D6EDFF"/>
                </a:solidFill>
              </a:rPr>
              <a:t>11.03.02)</a:t>
            </a:r>
            <a:endParaRPr i="0" sz="1100" u="none" cap="none" strike="noStrike">
              <a:solidFill>
                <a:srgbClr val="D6EDFF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ru" sz="1100" u="none" cap="none" strike="noStrike">
                <a:solidFill>
                  <a:srgbClr val="D6EDFF"/>
                </a:solidFill>
              </a:rPr>
              <a:t> </a:t>
            </a:r>
            <a:endParaRPr b="1" i="0" sz="1100" u="none" cap="none" strike="noStrike">
              <a:solidFill>
                <a:srgbClr val="D6EDFF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ru" sz="1100" u="none" cap="none" strike="noStrike">
                <a:solidFill>
                  <a:srgbClr val="D6EDFF"/>
                </a:solidFill>
              </a:rPr>
              <a:t>Группа: </a:t>
            </a:r>
            <a:r>
              <a:rPr b="1" lang="ru" sz="1100">
                <a:solidFill>
                  <a:srgbClr val="D6EDFF"/>
                </a:solidFill>
              </a:rPr>
              <a:t>ШМС-211</a:t>
            </a:r>
            <a:endParaRPr i="0" sz="1100" u="none" cap="none" strike="noStrike">
              <a:solidFill>
                <a:srgbClr val="D6EDFF"/>
              </a:solidFill>
            </a:endParaRPr>
          </a:p>
        </p:txBody>
      </p:sp>
      <p:sp>
        <p:nvSpPr>
          <p:cNvPr id="133" name="Google Shape;133;p25"/>
          <p:cNvSpPr/>
          <p:nvPr/>
        </p:nvSpPr>
        <p:spPr>
          <a:xfrm>
            <a:off x="733806" y="2567846"/>
            <a:ext cx="4572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lang="ru">
                <a:solidFill>
                  <a:srgbClr val="D6EDFF"/>
                </a:solidFill>
              </a:rPr>
              <a:t>Система безопасной локальной связи диспетчеров “Шифр-Связь”</a:t>
            </a:r>
            <a:endParaRPr b="1" i="0" sz="1400" u="none" cap="none" strike="noStrike">
              <a:solidFill>
                <a:srgbClr val="D6EDFF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rgbClr val="D6EDFF"/>
              </a:solidFill>
            </a:endParaRPr>
          </a:p>
        </p:txBody>
      </p:sp>
      <p:sp>
        <p:nvSpPr>
          <p:cNvPr id="134" name="Google Shape;134;p25"/>
          <p:cNvSpPr/>
          <p:nvPr/>
        </p:nvSpPr>
        <p:spPr>
          <a:xfrm>
            <a:off x="733800" y="3052650"/>
            <a:ext cx="4572000" cy="38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lang="ru">
                <a:solidFill>
                  <a:srgbClr val="D6EDFF"/>
                </a:solidFill>
              </a:rPr>
              <a:t>0000-00-0</a:t>
            </a:r>
            <a:endParaRPr b="1">
              <a:solidFill>
                <a:srgbClr val="D6EDFF"/>
              </a:solidFill>
            </a:endParaRPr>
          </a:p>
        </p:txBody>
      </p:sp>
      <p:sp>
        <p:nvSpPr>
          <p:cNvPr id="135" name="Google Shape;135;p25"/>
          <p:cNvSpPr/>
          <p:nvPr/>
        </p:nvSpPr>
        <p:spPr>
          <a:xfrm>
            <a:off x="4501125" y="3571100"/>
            <a:ext cx="4572000" cy="10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ru" sz="1100" u="none" cap="none" strike="noStrike">
                <a:solidFill>
                  <a:srgbClr val="D6EDFF"/>
                </a:solidFill>
              </a:rPr>
              <a:t>Наставник: </a:t>
            </a:r>
            <a:r>
              <a:rPr lang="ru" sz="1100">
                <a:solidFill>
                  <a:srgbClr val="D6EDFF"/>
                </a:solidFill>
              </a:rPr>
              <a:t>Волкова Е.А.</a:t>
            </a:r>
            <a:r>
              <a:rPr i="0" lang="ru" sz="1100" u="none" cap="none" strike="noStrike">
                <a:solidFill>
                  <a:srgbClr val="D6EDFF"/>
                </a:solidFill>
              </a:rPr>
              <a:t> </a:t>
            </a:r>
            <a:br>
              <a:rPr b="1" i="0" lang="ru" sz="1100" u="none" cap="none" strike="noStrike">
                <a:solidFill>
                  <a:srgbClr val="D6EDFF"/>
                </a:solidFill>
              </a:rPr>
            </a:br>
            <a:r>
              <a:rPr b="1" i="0" lang="ru" sz="1100" u="none" cap="none" strike="noStrike">
                <a:solidFill>
                  <a:srgbClr val="D6EDFF"/>
                </a:solidFill>
              </a:rPr>
              <a:t>Команда: </a:t>
            </a:r>
            <a:r>
              <a:rPr lang="ru" sz="1100">
                <a:solidFill>
                  <a:srgbClr val="D6EDFF"/>
                </a:solidFill>
              </a:rPr>
              <a:t>Митрофанов Д.Р.</a:t>
            </a:r>
            <a:endParaRPr i="0" sz="1100" u="none" cap="none" strike="noStrike">
              <a:solidFill>
                <a:srgbClr val="D6EDFF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100">
                <a:solidFill>
                  <a:srgbClr val="D6EDFF"/>
                </a:solidFill>
              </a:rPr>
              <a:t>Воронин К.В.</a:t>
            </a:r>
            <a:endParaRPr i="0" sz="1100" u="none" cap="none" strike="noStrike">
              <a:solidFill>
                <a:srgbClr val="D6EDFF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100">
                <a:solidFill>
                  <a:srgbClr val="D6EDFF"/>
                </a:solidFill>
              </a:rPr>
              <a:t>Дороднев Д.А.</a:t>
            </a:r>
            <a:endParaRPr i="0" sz="1100" u="none" cap="none" strike="noStrike">
              <a:solidFill>
                <a:srgbClr val="D6EDFF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100">
                <a:solidFill>
                  <a:srgbClr val="D6EDFF"/>
                </a:solidFill>
              </a:rPr>
              <a:t>Ташкаев А.А.</a:t>
            </a:r>
            <a:endParaRPr sz="1100">
              <a:solidFill>
                <a:srgbClr val="D6EDFF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100">
                <a:solidFill>
                  <a:srgbClr val="D6EDFF"/>
                </a:solidFill>
              </a:rPr>
              <a:t>Грекова У.В.</a:t>
            </a:r>
            <a:endParaRPr sz="1100">
              <a:solidFill>
                <a:srgbClr val="D6ED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/>
        </p:nvSpPr>
        <p:spPr>
          <a:xfrm>
            <a:off x="360045" y="348615"/>
            <a:ext cx="43149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3000">
                <a:solidFill>
                  <a:srgbClr val="D6EDFF"/>
                </a:solidFill>
              </a:rPr>
              <a:t>Текущая ситуация</a:t>
            </a:r>
            <a:endParaRPr b="1" sz="3000">
              <a:solidFill>
                <a:srgbClr val="D6EDFF"/>
              </a:solidFill>
            </a:endParaRPr>
          </a:p>
        </p:txBody>
      </p:sp>
      <p:sp>
        <p:nvSpPr>
          <p:cNvPr id="141" name="Google Shape;141;p26"/>
          <p:cNvSpPr txBox="1"/>
          <p:nvPr/>
        </p:nvSpPr>
        <p:spPr>
          <a:xfrm>
            <a:off x="360050" y="1177725"/>
            <a:ext cx="78516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Диспетчерам необходимо быстро и оперативно обмениваться данными в процессе работы.</a:t>
            </a:r>
            <a:endParaRPr sz="1800">
              <a:solidFill>
                <a:srgbClr val="D6ED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26"/>
          <p:cNvSpPr txBox="1"/>
          <p:nvPr/>
        </p:nvSpPr>
        <p:spPr>
          <a:xfrm>
            <a:off x="360050" y="1944600"/>
            <a:ext cx="7851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1800">
                <a:solidFill>
                  <a:srgbClr val="D6EDFF"/>
                </a:solidFill>
              </a:rPr>
              <a:t>Проблема:</a:t>
            </a:r>
            <a:r>
              <a:rPr lang="ru" sz="1800">
                <a:solidFill>
                  <a:srgbClr val="D6EDFF"/>
                </a:solidFill>
              </a:rPr>
              <a:t> У диспетчеров на данный момент </a:t>
            </a:r>
            <a:r>
              <a:rPr lang="ru" sz="1800">
                <a:solidFill>
                  <a:srgbClr val="D6EDFF"/>
                </a:solidFill>
              </a:rPr>
              <a:t>отсутствует</a:t>
            </a:r>
            <a:r>
              <a:rPr lang="ru" sz="1800">
                <a:solidFill>
                  <a:srgbClr val="D6EDFF"/>
                </a:solidFill>
              </a:rPr>
              <a:t> безопасный, удобный и быстрый способ обменом информации</a:t>
            </a:r>
            <a:endParaRPr sz="1800">
              <a:solidFill>
                <a:srgbClr val="D6EDFF"/>
              </a:solidFill>
            </a:endParaRPr>
          </a:p>
        </p:txBody>
      </p:sp>
      <p:sp>
        <p:nvSpPr>
          <p:cNvPr id="143" name="Google Shape;143;p26"/>
          <p:cNvSpPr txBox="1"/>
          <p:nvPr/>
        </p:nvSpPr>
        <p:spPr>
          <a:xfrm>
            <a:off x="360050" y="2703675"/>
            <a:ext cx="78516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1800">
                <a:solidFill>
                  <a:srgbClr val="D6EDFF"/>
                </a:solidFill>
              </a:rPr>
              <a:t>Барьеры нынешних решений:</a:t>
            </a:r>
            <a:r>
              <a:rPr lang="ru" sz="1800">
                <a:solidFill>
                  <a:srgbClr val="D6EDFF"/>
                </a:solidFill>
              </a:rPr>
              <a:t> </a:t>
            </a:r>
            <a:r>
              <a:rPr lang="ru" sz="1800">
                <a:solidFill>
                  <a:srgbClr val="D6EDFF"/>
                </a:solidFill>
              </a:rPr>
              <a:t>Использование публичных сервисов создаёт риски перехвата сообщений третьими лицами, даже при использовании отечественных сервисов. Кроме того, работа публичных мессенджеров требует подключения к интернету, что невозможно или нежелательно в закрытой и изолированной локальной сети предприятия.</a:t>
            </a:r>
            <a:endParaRPr sz="1800">
              <a:solidFill>
                <a:srgbClr val="D6EDFF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/>
        </p:nvSpPr>
        <p:spPr>
          <a:xfrm>
            <a:off x="360045" y="348615"/>
            <a:ext cx="43149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3000">
                <a:solidFill>
                  <a:srgbClr val="D6EDFF"/>
                </a:solidFill>
              </a:rPr>
              <a:t>Текущая ситуация</a:t>
            </a:r>
            <a:endParaRPr b="1" sz="3000">
              <a:solidFill>
                <a:srgbClr val="D6EDFF"/>
              </a:solidFill>
            </a:endParaRPr>
          </a:p>
        </p:txBody>
      </p:sp>
      <p:sp>
        <p:nvSpPr>
          <p:cNvPr id="149" name="Google Shape;149;p27"/>
          <p:cNvSpPr txBox="1"/>
          <p:nvPr/>
        </p:nvSpPr>
        <p:spPr>
          <a:xfrm>
            <a:off x="1265375" y="831600"/>
            <a:ext cx="19224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Стейкхолдеры</a:t>
            </a:r>
            <a:endParaRPr sz="1800">
              <a:solidFill>
                <a:srgbClr val="D6ED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0" name="Google Shape;150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0050" y="1177800"/>
            <a:ext cx="3733041" cy="3728199"/>
          </a:xfrm>
          <a:prstGeom prst="rect">
            <a:avLst/>
          </a:prstGeom>
          <a:noFill/>
          <a:ln cap="flat" cmpd="sng" w="38100">
            <a:solidFill>
              <a:srgbClr val="D6EDFF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1" name="Google Shape;151;p27"/>
          <p:cNvSpPr txBox="1"/>
          <p:nvPr/>
        </p:nvSpPr>
        <p:spPr>
          <a:xfrm>
            <a:off x="4674950" y="831600"/>
            <a:ext cx="40044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Выводы из проблемного интервью</a:t>
            </a:r>
            <a:endParaRPr sz="1800">
              <a:solidFill>
                <a:srgbClr val="D6ED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27"/>
          <p:cNvSpPr txBox="1"/>
          <p:nvPr/>
        </p:nvSpPr>
        <p:spPr>
          <a:xfrm>
            <a:off x="4674950" y="1177800"/>
            <a:ext cx="4314900" cy="36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600"/>
              <a:buAutoNum type="arabicPeriod"/>
            </a:pPr>
            <a:r>
              <a:rPr lang="ru" sz="1600">
                <a:solidFill>
                  <a:srgbClr val="D6EDFF"/>
                </a:solidFill>
              </a:rPr>
              <a:t>Скорость обмена данными критична для операционной работы и экстренных ситуаций.</a:t>
            </a:r>
            <a:endParaRPr sz="1600">
              <a:solidFill>
                <a:srgbClr val="D6EDFF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600"/>
              <a:buAutoNum type="arabicPeriod"/>
            </a:pPr>
            <a:r>
              <a:rPr lang="ru" sz="1600">
                <a:solidFill>
                  <a:srgbClr val="D6EDFF"/>
                </a:solidFill>
              </a:rPr>
              <a:t>Вн</a:t>
            </a:r>
            <a:r>
              <a:rPr lang="ru" sz="1600">
                <a:solidFill>
                  <a:srgbClr val="D6EDFF"/>
                </a:solidFill>
              </a:rPr>
              <a:t>утренняя почта не подходит для оперативного (синхронного) общения.</a:t>
            </a:r>
            <a:endParaRPr sz="1600">
              <a:solidFill>
                <a:srgbClr val="D6EDFF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600"/>
              <a:buAutoNum type="arabicPeriod"/>
            </a:pPr>
            <a:r>
              <a:rPr lang="ru" sz="1600">
                <a:solidFill>
                  <a:srgbClr val="D6EDFF"/>
                </a:solidFill>
              </a:rPr>
              <a:t>Пользователям важен привычный UX (возможность отправлять файлы, фото, создавать групповые чаты).</a:t>
            </a:r>
            <a:endParaRPr sz="1600">
              <a:solidFill>
                <a:srgbClr val="D6EDFF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600"/>
              <a:buAutoNum type="arabicPeriod"/>
            </a:pPr>
            <a:r>
              <a:rPr lang="ru" sz="1600">
                <a:solidFill>
                  <a:srgbClr val="D6EDFF"/>
                </a:solidFill>
              </a:rPr>
              <a:t>Трафик не должен покидать периметр локальной сети.</a:t>
            </a:r>
            <a:endParaRPr sz="1600">
              <a:solidFill>
                <a:srgbClr val="D6EDFF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600"/>
              <a:buAutoNum type="arabicPeriod"/>
            </a:pPr>
            <a:r>
              <a:rPr lang="ru" sz="1600">
                <a:solidFill>
                  <a:srgbClr val="D6EDFF"/>
                </a:solidFill>
              </a:rPr>
              <a:t>Требуется возможность аудита и контроля.</a:t>
            </a:r>
            <a:endParaRPr sz="1600">
              <a:solidFill>
                <a:srgbClr val="D6EDFF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600"/>
              <a:buAutoNum type="arabicPeriod"/>
            </a:pPr>
            <a:r>
              <a:rPr lang="ru" sz="1600">
                <a:solidFill>
                  <a:srgbClr val="D6EDFF"/>
                </a:solidFill>
              </a:rPr>
              <a:t>Полное отсутствие зависимости от внешнего интернета.</a:t>
            </a:r>
            <a:endParaRPr sz="1600">
              <a:solidFill>
                <a:srgbClr val="D6EDFF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8"/>
          <p:cNvSpPr txBox="1"/>
          <p:nvPr/>
        </p:nvSpPr>
        <p:spPr>
          <a:xfrm>
            <a:off x="366445" y="275790"/>
            <a:ext cx="43149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>
                <a:solidFill>
                  <a:srgbClr val="D6EDFF"/>
                </a:solidFill>
              </a:rPr>
              <a:t>Анализ аналогов</a:t>
            </a:r>
            <a:endParaRPr sz="3000">
              <a:solidFill>
                <a:srgbClr val="D6ED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8"/>
          <p:cNvSpPr txBox="1"/>
          <p:nvPr/>
        </p:nvSpPr>
        <p:spPr>
          <a:xfrm>
            <a:off x="366458" y="697350"/>
            <a:ext cx="84111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Подходящее решение отсутствует</a:t>
            </a:r>
            <a:endParaRPr sz="1800">
              <a:solidFill>
                <a:srgbClr val="D6ED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59" name="Google Shape;159;p28"/>
          <p:cNvGraphicFramePr/>
          <p:nvPr/>
        </p:nvGraphicFramePr>
        <p:xfrm>
          <a:off x="366450" y="10435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{EAFA6D72-EFEA-4E15-A643-8ACE97BC5E85}</a:tableStyleId>
              </a:tblPr>
              <a:tblGrid>
                <a:gridCol w="2222675"/>
                <a:gridCol w="6188425"/>
              </a:tblGrid>
              <a:tr h="6508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b="1" lang="ru">
                          <a:solidFill>
                            <a:srgbClr val="D6EDFF"/>
                          </a:solidFill>
                        </a:rPr>
                        <a:t>Nextcloud Talk</a:t>
                      </a:r>
                      <a:endParaRPr b="1">
                        <a:solidFill>
                          <a:srgbClr val="D6EDFF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D6EDFF"/>
                          </a:solidFill>
                        </a:rPr>
                        <a:t>Ориентирован на видеоконференции, избыточный функционал. Так же сам по себе слишком “тяжёлый”</a:t>
                      </a:r>
                      <a:endParaRPr sz="1300">
                        <a:solidFill>
                          <a:srgbClr val="D6EDFF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73763"/>
                    </a:solidFill>
                  </a:tcPr>
                </a:tc>
              </a:tr>
              <a:tr h="6508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">
                          <a:solidFill>
                            <a:srgbClr val="D6EDFF"/>
                          </a:solidFill>
                        </a:rPr>
                        <a:t>MAX, Telegram, VK и др.</a:t>
                      </a:r>
                      <a:endParaRPr b="1">
                        <a:solidFill>
                          <a:srgbClr val="D6EDFF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D6EDFF"/>
                          </a:solidFill>
                        </a:rPr>
                        <a:t>Требуют постоянного интернет подключения, что является риском, даже если сервера отечественные.</a:t>
                      </a:r>
                      <a:endParaRPr sz="1300">
                        <a:solidFill>
                          <a:srgbClr val="D6EDFF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73763"/>
                    </a:solidFill>
                  </a:tcPr>
                </a:tc>
              </a:tr>
              <a:tr h="6508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">
                          <a:solidFill>
                            <a:srgbClr val="D6EDFF"/>
                          </a:solidFill>
                        </a:rPr>
                        <a:t>XMPP-сервер</a:t>
                      </a:r>
                      <a:endParaRPr b="1">
                        <a:solidFill>
                          <a:srgbClr val="D6EDFF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D6EDFF"/>
                          </a:solidFill>
                        </a:rPr>
                        <a:t>Устаревший как UX так и сам по себе, фрагментация и расхождения в функционале клиентов.</a:t>
                      </a:r>
                      <a:endParaRPr sz="1300">
                        <a:solidFill>
                          <a:srgbClr val="D6EDFF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73763"/>
                    </a:solidFill>
                  </a:tcPr>
                </a:tc>
              </a:tr>
              <a:tr h="11064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">
                          <a:solidFill>
                            <a:srgbClr val="D6EDFF"/>
                          </a:solidFill>
                        </a:rPr>
                        <a:t>Mattermost</a:t>
                      </a:r>
                      <a:endParaRPr b="1">
                        <a:solidFill>
                          <a:srgbClr val="D6EDFF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D6EDFF"/>
                          </a:solidFill>
                        </a:rPr>
                        <a:t>Самый близкий кандидат, однако данный продукт слишком ресурсозатраный для установки/поддержки и избыток ненужного для диспетчеров функционала. Так же требует интернет для проверки Enterprise лицензии.</a:t>
                      </a:r>
                      <a:endParaRPr sz="1300">
                        <a:solidFill>
                          <a:srgbClr val="D6EDFF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73763"/>
                    </a:solidFill>
                  </a:tcPr>
                </a:tc>
              </a:tr>
              <a:tr h="8786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">
                          <a:solidFill>
                            <a:srgbClr val="D6EDFF"/>
                          </a:solidFill>
                        </a:rPr>
                        <a:t>Matrix/Element</a:t>
                      </a:r>
                      <a:endParaRPr b="1">
                        <a:solidFill>
                          <a:srgbClr val="D6EDFF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737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D6EDFF"/>
                          </a:solidFill>
                        </a:rPr>
                        <a:t>По своей сути предназначены для открытого интернета и межорганизационного общения. Трудно поддерживать в оффлайне, а </a:t>
                      </a:r>
                      <a:r>
                        <a:rPr lang="ru" sz="1300">
                          <a:solidFill>
                            <a:srgbClr val="D6EDFF"/>
                          </a:solidFill>
                        </a:rPr>
                        <a:t>также</a:t>
                      </a:r>
                      <a:r>
                        <a:rPr lang="ru" sz="1300">
                          <a:solidFill>
                            <a:srgbClr val="D6EDFF"/>
                          </a:solidFill>
                        </a:rPr>
                        <a:t> </a:t>
                      </a:r>
                      <a:r>
                        <a:rPr lang="ru" sz="1300">
                          <a:solidFill>
                            <a:srgbClr val="D6EDFF"/>
                          </a:solidFill>
                        </a:rPr>
                        <a:t>ресурсоёмкий</a:t>
                      </a:r>
                      <a:r>
                        <a:rPr lang="ru" sz="1300">
                          <a:solidFill>
                            <a:srgbClr val="D6EDFF"/>
                          </a:solidFill>
                        </a:rPr>
                        <a:t>.</a:t>
                      </a:r>
                      <a:endParaRPr sz="1300">
                        <a:solidFill>
                          <a:srgbClr val="D6EDFF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C343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7376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9"/>
          <p:cNvSpPr txBox="1"/>
          <p:nvPr/>
        </p:nvSpPr>
        <p:spPr>
          <a:xfrm>
            <a:off x="278296" y="318052"/>
            <a:ext cx="27378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ru" sz="3000" u="none" cap="none" strike="noStrike">
                <a:solidFill>
                  <a:srgbClr val="D6EDFF"/>
                </a:solidFill>
              </a:rPr>
              <a:t>Проблема </a:t>
            </a:r>
            <a:endParaRPr i="0" sz="3000" u="none" cap="none" strike="noStrike">
              <a:solidFill>
                <a:srgbClr val="D6EDFF"/>
              </a:solidFill>
            </a:endParaRPr>
          </a:p>
        </p:txBody>
      </p:sp>
      <p:sp>
        <p:nvSpPr>
          <p:cNvPr id="165" name="Google Shape;165;p29"/>
          <p:cNvSpPr txBox="1"/>
          <p:nvPr/>
        </p:nvSpPr>
        <p:spPr>
          <a:xfrm>
            <a:off x="333155" y="1361219"/>
            <a:ext cx="14973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i="0" sz="1100" u="none" cap="none" strike="noStrike">
              <a:solidFill>
                <a:srgbClr val="000000"/>
              </a:solidFill>
            </a:endParaRPr>
          </a:p>
        </p:txBody>
      </p:sp>
      <p:sp>
        <p:nvSpPr>
          <p:cNvPr id="166" name="Google Shape;166;p29"/>
          <p:cNvSpPr/>
          <p:nvPr/>
        </p:nvSpPr>
        <p:spPr>
          <a:xfrm>
            <a:off x="469875" y="1264675"/>
            <a:ext cx="1462800" cy="564900"/>
          </a:xfrm>
          <a:prstGeom prst="roundRect">
            <a:avLst>
              <a:gd fmla="val 16667" name="adj"/>
            </a:avLst>
          </a:prstGeom>
          <a:solidFill>
            <a:srgbClr val="D6EDFF"/>
          </a:solidFill>
          <a:ln cap="flat" cmpd="sng" w="7150">
            <a:solidFill>
              <a:srgbClr val="D6E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i="0" lang="ru" sz="1600" u="none" cap="none" strike="noStrike">
                <a:solidFill>
                  <a:srgbClr val="073763"/>
                </a:solidFill>
              </a:rPr>
              <a:t>У кого-то</a:t>
            </a:r>
            <a:endParaRPr i="0" sz="1600" u="none" cap="none" strike="noStrike">
              <a:solidFill>
                <a:srgbClr val="073763"/>
              </a:solidFill>
            </a:endParaRPr>
          </a:p>
        </p:txBody>
      </p:sp>
      <p:sp>
        <p:nvSpPr>
          <p:cNvPr id="167" name="Google Shape;167;p29"/>
          <p:cNvSpPr/>
          <p:nvPr/>
        </p:nvSpPr>
        <p:spPr>
          <a:xfrm>
            <a:off x="469875" y="1977681"/>
            <a:ext cx="1462800" cy="564900"/>
          </a:xfrm>
          <a:prstGeom prst="roundRect">
            <a:avLst>
              <a:gd fmla="val 16667" name="adj"/>
            </a:avLst>
          </a:prstGeom>
          <a:solidFill>
            <a:srgbClr val="D6EDFF"/>
          </a:solidFill>
          <a:ln cap="flat" cmpd="sng" w="7150">
            <a:solidFill>
              <a:srgbClr val="D6E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i="0" lang="ru" sz="1500" u="none" cap="none" strike="noStrike">
                <a:solidFill>
                  <a:srgbClr val="073763"/>
                </a:solidFill>
              </a:rPr>
              <a:t>есть потребность</a:t>
            </a:r>
            <a:endParaRPr i="0" sz="1500" u="none" cap="none" strike="noStrike">
              <a:solidFill>
                <a:srgbClr val="073763"/>
              </a:solidFill>
            </a:endParaRPr>
          </a:p>
        </p:txBody>
      </p:sp>
      <p:sp>
        <p:nvSpPr>
          <p:cNvPr id="168" name="Google Shape;168;p29"/>
          <p:cNvSpPr/>
          <p:nvPr/>
        </p:nvSpPr>
        <p:spPr>
          <a:xfrm>
            <a:off x="469875" y="2645800"/>
            <a:ext cx="1462800" cy="564900"/>
          </a:xfrm>
          <a:prstGeom prst="roundRect">
            <a:avLst>
              <a:gd fmla="val 16667" name="adj"/>
            </a:avLst>
          </a:prstGeom>
          <a:solidFill>
            <a:srgbClr val="D6EDFF"/>
          </a:solidFill>
          <a:ln cap="flat" cmpd="sng" w="7150">
            <a:solidFill>
              <a:srgbClr val="D6E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i="0" lang="ru" u="none" cap="none" strike="noStrike">
                <a:solidFill>
                  <a:srgbClr val="073763"/>
                </a:solidFill>
              </a:rPr>
              <a:t>но что-то ему мешает</a:t>
            </a:r>
            <a:endParaRPr i="0" u="none" cap="none" strike="noStrike">
              <a:solidFill>
                <a:srgbClr val="073763"/>
              </a:solidFill>
            </a:endParaRPr>
          </a:p>
        </p:txBody>
      </p:sp>
      <p:sp>
        <p:nvSpPr>
          <p:cNvPr id="169" name="Google Shape;169;p29"/>
          <p:cNvSpPr/>
          <p:nvPr/>
        </p:nvSpPr>
        <p:spPr>
          <a:xfrm>
            <a:off x="469875" y="3313919"/>
            <a:ext cx="1462800" cy="564900"/>
          </a:xfrm>
          <a:prstGeom prst="roundRect">
            <a:avLst>
              <a:gd fmla="val 16667" name="adj"/>
            </a:avLst>
          </a:prstGeom>
          <a:solidFill>
            <a:srgbClr val="D6EDFF"/>
          </a:solidFill>
          <a:ln cap="flat" cmpd="sng" w="7150">
            <a:solidFill>
              <a:srgbClr val="D6E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i="0" lang="ru" sz="900" u="none" cap="none" strike="noStrike">
                <a:solidFill>
                  <a:srgbClr val="073763"/>
                </a:solidFill>
              </a:rPr>
              <a:t>а имеющиеся решения не подходят, потому что…</a:t>
            </a:r>
            <a:endParaRPr i="0" sz="900" u="none" cap="none" strike="noStrike">
              <a:solidFill>
                <a:srgbClr val="073763"/>
              </a:solidFill>
            </a:endParaRPr>
          </a:p>
        </p:txBody>
      </p:sp>
      <p:sp>
        <p:nvSpPr>
          <p:cNvPr id="170" name="Google Shape;170;p29"/>
          <p:cNvSpPr/>
          <p:nvPr/>
        </p:nvSpPr>
        <p:spPr>
          <a:xfrm>
            <a:off x="2019731" y="1264675"/>
            <a:ext cx="6757500" cy="564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7150">
            <a:solidFill>
              <a:srgbClr val="A4C2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200">
                <a:solidFill>
                  <a:srgbClr val="073763"/>
                </a:solidFill>
              </a:rPr>
              <a:t>У диспетчеров</a:t>
            </a:r>
            <a:endParaRPr i="0" sz="1200" u="none" cap="none" strike="noStrike">
              <a:solidFill>
                <a:srgbClr val="073763"/>
              </a:solidFill>
            </a:endParaRPr>
          </a:p>
        </p:txBody>
      </p:sp>
      <p:sp>
        <p:nvSpPr>
          <p:cNvPr id="171" name="Google Shape;171;p29"/>
          <p:cNvSpPr/>
          <p:nvPr/>
        </p:nvSpPr>
        <p:spPr>
          <a:xfrm>
            <a:off x="2019750" y="1955250"/>
            <a:ext cx="6757500" cy="564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7150">
            <a:solidFill>
              <a:srgbClr val="A4C2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200">
                <a:solidFill>
                  <a:srgbClr val="073763"/>
                </a:solidFill>
              </a:rPr>
              <a:t>Есть потребность в быстром, безопасном и удобном обмене сообщениями и рабочими данными</a:t>
            </a:r>
            <a:endParaRPr i="0" sz="1200" u="none" cap="none" strike="noStrike">
              <a:solidFill>
                <a:srgbClr val="073763"/>
              </a:solidFill>
            </a:endParaRPr>
          </a:p>
        </p:txBody>
      </p:sp>
      <p:sp>
        <p:nvSpPr>
          <p:cNvPr id="172" name="Google Shape;172;p29"/>
          <p:cNvSpPr/>
          <p:nvPr/>
        </p:nvSpPr>
        <p:spPr>
          <a:xfrm>
            <a:off x="2019731" y="2645800"/>
            <a:ext cx="6757500" cy="564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7150">
            <a:solidFill>
              <a:srgbClr val="A4C2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200">
                <a:solidFill>
                  <a:srgbClr val="073763"/>
                </a:solidFill>
              </a:rPr>
              <a:t>Им мешает отсутствие подходящего инструмента внутри корпоративной сети</a:t>
            </a:r>
            <a:endParaRPr i="0" sz="1200" u="none" cap="none" strike="noStrike">
              <a:solidFill>
                <a:srgbClr val="073763"/>
              </a:solidFill>
            </a:endParaRPr>
          </a:p>
        </p:txBody>
      </p:sp>
      <p:sp>
        <p:nvSpPr>
          <p:cNvPr id="173" name="Google Shape;173;p29"/>
          <p:cNvSpPr/>
          <p:nvPr/>
        </p:nvSpPr>
        <p:spPr>
          <a:xfrm>
            <a:off x="2019731" y="3313919"/>
            <a:ext cx="6757500" cy="564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7150">
            <a:solidFill>
              <a:srgbClr val="A4C2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200">
                <a:solidFill>
                  <a:srgbClr val="073763"/>
                </a:solidFill>
              </a:rPr>
              <a:t>Публичные мессенджеры не обеспечивают конфиденциальность, нарушают требования ИБ и не могут функционировать в закрытом контуре без подключения к интернету.</a:t>
            </a:r>
            <a:endParaRPr i="0" sz="1200" u="none" cap="none" strike="noStrike">
              <a:solidFill>
                <a:srgbClr val="073763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/>
        </p:nvSpPr>
        <p:spPr>
          <a:xfrm>
            <a:off x="360045" y="348615"/>
            <a:ext cx="43149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3000">
                <a:solidFill>
                  <a:srgbClr val="D6EDFF"/>
                </a:solidFill>
              </a:rPr>
              <a:t>Цель и задачи</a:t>
            </a:r>
            <a:endParaRPr b="1" sz="3000">
              <a:solidFill>
                <a:srgbClr val="D6EDFF"/>
              </a:solidFill>
            </a:endParaRPr>
          </a:p>
        </p:txBody>
      </p:sp>
      <p:sp>
        <p:nvSpPr>
          <p:cNvPr id="179" name="Google Shape;179;p30"/>
          <p:cNvSpPr txBox="1"/>
          <p:nvPr/>
        </p:nvSpPr>
        <p:spPr>
          <a:xfrm>
            <a:off x="360050" y="1232250"/>
            <a:ext cx="7851600" cy="11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1800">
                <a:solidFill>
                  <a:srgbClr val="D6EDFF"/>
                </a:solidFill>
              </a:rPr>
              <a:t>Цель:</a:t>
            </a:r>
            <a:r>
              <a:rPr lang="ru" sz="1800">
                <a:solidFill>
                  <a:srgbClr val="D6EDFF"/>
                </a:solidFill>
              </a:rPr>
              <a:t> Разработать систему корпоративного мессенджера «ШИФР-СВЯЗЬ» на базе self-hosted сервера для диспетчеров. Система должна обеспечить быстрый обмен текстовыми и мультимедийными данными в изолированной локальной сети без подключения к Интернет.</a:t>
            </a:r>
            <a:endParaRPr sz="1800">
              <a:solidFill>
                <a:srgbClr val="D6ED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30"/>
          <p:cNvSpPr txBox="1"/>
          <p:nvPr/>
        </p:nvSpPr>
        <p:spPr>
          <a:xfrm>
            <a:off x="360050" y="2409750"/>
            <a:ext cx="78516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1800">
                <a:solidFill>
                  <a:srgbClr val="D6EDFF"/>
                </a:solidFill>
              </a:rPr>
              <a:t>Задачи: </a:t>
            </a:r>
            <a:endParaRPr b="1" sz="1800">
              <a:solidFill>
                <a:srgbClr val="D6EDFF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1. Провести детальный сбор требований (UX/UI, функционал, протоколы шифрования, архитектура изоляции).</a:t>
            </a:r>
            <a:endParaRPr sz="1800">
              <a:solidFill>
                <a:srgbClr val="D6EDFF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2. Спроектировать архитектуру self-hosted сервера, способного работать в полностью изолированной локальной сети без шлюзов в интернет</a:t>
            </a:r>
            <a:endParaRPr sz="1800">
              <a:solidFill>
                <a:srgbClr val="D6EDFF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3. Разработать удобные для диспетчеров клиентские приложения для работы с внутренним сервером.</a:t>
            </a:r>
            <a:endParaRPr sz="1800">
              <a:solidFill>
                <a:srgbClr val="D6EDFF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1"/>
          <p:cNvSpPr txBox="1"/>
          <p:nvPr/>
        </p:nvSpPr>
        <p:spPr>
          <a:xfrm>
            <a:off x="360054" y="348625"/>
            <a:ext cx="78516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3000">
                <a:solidFill>
                  <a:srgbClr val="D6EDFF"/>
                </a:solidFill>
              </a:rPr>
              <a:t>Требования к решению</a:t>
            </a:r>
            <a:endParaRPr b="1" sz="3000">
              <a:solidFill>
                <a:srgbClr val="D6EDFF"/>
              </a:solidFill>
            </a:endParaRPr>
          </a:p>
        </p:txBody>
      </p:sp>
      <p:sp>
        <p:nvSpPr>
          <p:cNvPr id="186" name="Google Shape;186;p31"/>
          <p:cNvSpPr txBox="1"/>
          <p:nvPr/>
        </p:nvSpPr>
        <p:spPr>
          <a:xfrm>
            <a:off x="360050" y="1117050"/>
            <a:ext cx="7851600" cy="14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1800">
                <a:solidFill>
                  <a:srgbClr val="D6EDFF"/>
                </a:solidFill>
              </a:rPr>
              <a:t>Решение должно:</a:t>
            </a:r>
            <a:endParaRPr sz="1800">
              <a:solidFill>
                <a:srgbClr val="D6EDFF"/>
              </a:solidFill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800"/>
              <a:buAutoNum type="arabicPeriod"/>
            </a:pPr>
            <a:r>
              <a:rPr lang="ru" sz="1800">
                <a:solidFill>
                  <a:srgbClr val="D6EDFF"/>
                </a:solidFill>
              </a:rPr>
              <a:t>Работать полностью автономно без подключения к Интернету</a:t>
            </a:r>
            <a:endParaRPr sz="1800">
              <a:solidFill>
                <a:srgbClr val="D6EDFF"/>
              </a:solidFill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800"/>
              <a:buAutoNum type="arabicPeriod"/>
            </a:pPr>
            <a:r>
              <a:rPr lang="ru" sz="1800">
                <a:solidFill>
                  <a:srgbClr val="D6EDFF"/>
                </a:solidFill>
              </a:rPr>
              <a:t>Быть удобным для пользователей и специализированным под задачи диспетчеров</a:t>
            </a:r>
            <a:endParaRPr sz="1800">
              <a:solidFill>
                <a:srgbClr val="D6EDFF"/>
              </a:solidFill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800"/>
              <a:buAutoNum type="arabicPeriod"/>
            </a:pPr>
            <a:r>
              <a:rPr lang="ru" sz="1800">
                <a:solidFill>
                  <a:srgbClr val="D6EDFF"/>
                </a:solidFill>
              </a:rPr>
              <a:t>Достаточно безопасным для использования внутри компании</a:t>
            </a:r>
            <a:endParaRPr sz="1800">
              <a:solidFill>
                <a:srgbClr val="D6EDFF"/>
              </a:solidFill>
            </a:endParaRPr>
          </a:p>
        </p:txBody>
      </p:sp>
      <p:sp>
        <p:nvSpPr>
          <p:cNvPr id="187" name="Google Shape;187;p31"/>
          <p:cNvSpPr txBox="1"/>
          <p:nvPr/>
        </p:nvSpPr>
        <p:spPr>
          <a:xfrm>
            <a:off x="360050" y="2809175"/>
            <a:ext cx="78516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1800">
                <a:solidFill>
                  <a:srgbClr val="D6EDFF"/>
                </a:solidFill>
              </a:rPr>
              <a:t>Решение должно выполнять функции</a:t>
            </a:r>
            <a:r>
              <a:rPr b="1" lang="ru" sz="1800">
                <a:solidFill>
                  <a:srgbClr val="D6EDFF"/>
                </a:solidFill>
              </a:rPr>
              <a:t>: </a:t>
            </a:r>
            <a:endParaRPr sz="1800">
              <a:solidFill>
                <a:srgbClr val="D6EDFF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800"/>
              <a:buAutoNum type="arabicPeriod"/>
            </a:pPr>
            <a:r>
              <a:rPr lang="ru" sz="1800">
                <a:solidFill>
                  <a:srgbClr val="D6EDFF"/>
                </a:solidFill>
              </a:rPr>
              <a:t>Быстрый обмен сообщениями (текстовые + файлы)</a:t>
            </a:r>
            <a:endParaRPr sz="1800">
              <a:solidFill>
                <a:srgbClr val="D6EDFF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800"/>
              <a:buAutoNum type="arabicPeriod"/>
            </a:pPr>
            <a:r>
              <a:rPr lang="ru" sz="1800">
                <a:solidFill>
                  <a:srgbClr val="D6EDFF"/>
                </a:solidFill>
              </a:rPr>
              <a:t>Организация различных групп, с разными привилегиями для пользователей</a:t>
            </a:r>
            <a:endParaRPr sz="1800">
              <a:solidFill>
                <a:srgbClr val="D6EDFF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800"/>
              <a:buAutoNum type="arabicPeriod"/>
            </a:pPr>
            <a:r>
              <a:rPr lang="ru" sz="1800">
                <a:solidFill>
                  <a:srgbClr val="D6EDFF"/>
                </a:solidFill>
              </a:rPr>
              <a:t>Шифрования сообщений</a:t>
            </a:r>
            <a:endParaRPr sz="1800">
              <a:solidFill>
                <a:srgbClr val="D6EDFF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D6EDFF"/>
              </a:buClr>
              <a:buSzPts val="1800"/>
              <a:buAutoNum type="arabicPeriod"/>
            </a:pPr>
            <a:r>
              <a:rPr lang="ru" sz="1800">
                <a:solidFill>
                  <a:srgbClr val="D6EDFF"/>
                </a:solidFill>
              </a:rPr>
              <a:t>Быстрого отправления частых сообщений</a:t>
            </a:r>
            <a:endParaRPr sz="1800">
              <a:solidFill>
                <a:srgbClr val="D6EDFF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2"/>
          <p:cNvSpPr txBox="1"/>
          <p:nvPr/>
        </p:nvSpPr>
        <p:spPr>
          <a:xfrm>
            <a:off x="360054" y="348625"/>
            <a:ext cx="78516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3000">
                <a:solidFill>
                  <a:srgbClr val="D6EDFF"/>
                </a:solidFill>
              </a:rPr>
              <a:t>Архитектура решения</a:t>
            </a:r>
            <a:endParaRPr b="1" sz="3000">
              <a:solidFill>
                <a:srgbClr val="D6EDFF"/>
              </a:solidFill>
            </a:endParaRPr>
          </a:p>
        </p:txBody>
      </p:sp>
      <p:sp>
        <p:nvSpPr>
          <p:cNvPr id="193" name="Google Shape;193;p32"/>
          <p:cNvSpPr txBox="1"/>
          <p:nvPr/>
        </p:nvSpPr>
        <p:spPr>
          <a:xfrm>
            <a:off x="360050" y="740100"/>
            <a:ext cx="78516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Клиент-серверная архитектура</a:t>
            </a:r>
            <a:endParaRPr sz="1800">
              <a:solidFill>
                <a:srgbClr val="D6EDFF"/>
              </a:solidFill>
            </a:endParaRPr>
          </a:p>
        </p:txBody>
      </p:sp>
      <p:sp>
        <p:nvSpPr>
          <p:cNvPr id="194" name="Google Shape;194;p32"/>
          <p:cNvSpPr txBox="1"/>
          <p:nvPr/>
        </p:nvSpPr>
        <p:spPr>
          <a:xfrm>
            <a:off x="360050" y="1317350"/>
            <a:ext cx="381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Серверная часть</a:t>
            </a:r>
            <a:endParaRPr sz="1800">
              <a:solidFill>
                <a:srgbClr val="D6EDFF"/>
              </a:solidFill>
            </a:endParaRPr>
          </a:p>
        </p:txBody>
      </p:sp>
      <p:sp>
        <p:nvSpPr>
          <p:cNvPr id="195" name="Google Shape;195;p32"/>
          <p:cNvSpPr txBox="1"/>
          <p:nvPr/>
        </p:nvSpPr>
        <p:spPr>
          <a:xfrm>
            <a:off x="4572000" y="1317350"/>
            <a:ext cx="381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Клиентская часть</a:t>
            </a:r>
            <a:endParaRPr sz="1800">
              <a:solidFill>
                <a:srgbClr val="D6EDFF"/>
              </a:solidFill>
            </a:endParaRPr>
          </a:p>
        </p:txBody>
      </p:sp>
      <p:pic>
        <p:nvPicPr>
          <p:cNvPr id="196" name="Google Shape;196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931450"/>
            <a:ext cx="571500" cy="571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97" name="Google Shape;197;p32"/>
          <p:cNvGrpSpPr/>
          <p:nvPr/>
        </p:nvGrpSpPr>
        <p:grpSpPr>
          <a:xfrm>
            <a:off x="-170226" y="2381362"/>
            <a:ext cx="1840189" cy="1035103"/>
            <a:chOff x="-60800" y="2655338"/>
            <a:chExt cx="2614277" cy="1470525"/>
          </a:xfrm>
        </p:grpSpPr>
        <p:pic>
          <p:nvPicPr>
            <p:cNvPr id="198" name="Google Shape;198;p32" title="Untitled.png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-60800" y="2655338"/>
              <a:ext cx="2614277" cy="14705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9" name="Google Shape;199;p32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459925" y="3017700"/>
              <a:ext cx="1572825" cy="7458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0" name="Google Shape;200;p32"/>
          <p:cNvSpPr txBox="1"/>
          <p:nvPr/>
        </p:nvSpPr>
        <p:spPr>
          <a:xfrm>
            <a:off x="360050" y="1779050"/>
            <a:ext cx="381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b="1" lang="ru" sz="1800">
                <a:solidFill>
                  <a:srgbClr val="D6EDFF"/>
                </a:solidFill>
              </a:rPr>
              <a:t>InspIRC</a:t>
            </a:r>
            <a:r>
              <a:rPr b="1" lang="ru" sz="1800">
                <a:solidFill>
                  <a:srgbClr val="D6EDFF"/>
                </a:solidFill>
              </a:rPr>
              <a:t>d</a:t>
            </a:r>
            <a:endParaRPr sz="1900">
              <a:solidFill>
                <a:srgbClr val="D6EDFF"/>
              </a:solidFill>
            </a:endParaRPr>
          </a:p>
        </p:txBody>
      </p:sp>
      <p:sp>
        <p:nvSpPr>
          <p:cNvPr id="201" name="Google Shape;201;p32"/>
          <p:cNvSpPr txBox="1"/>
          <p:nvPr/>
        </p:nvSpPr>
        <p:spPr>
          <a:xfrm>
            <a:off x="723900" y="2010100"/>
            <a:ext cx="34509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ru">
                <a:solidFill>
                  <a:srgbClr val="D6EDFF"/>
                </a:solidFill>
              </a:rPr>
              <a:t>Модульный, легкий, современный IRC-сервер</a:t>
            </a:r>
            <a:endParaRPr>
              <a:solidFill>
                <a:srgbClr val="D6EDFF"/>
              </a:solidFill>
            </a:endParaRPr>
          </a:p>
        </p:txBody>
      </p:sp>
      <p:sp>
        <p:nvSpPr>
          <p:cNvPr id="202" name="Google Shape;202;p32"/>
          <p:cNvSpPr txBox="1"/>
          <p:nvPr/>
        </p:nvSpPr>
        <p:spPr>
          <a:xfrm>
            <a:off x="360050" y="2459388"/>
            <a:ext cx="381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b="1" lang="ru" sz="1800">
                <a:solidFill>
                  <a:srgbClr val="D6EDFF"/>
                </a:solidFill>
              </a:rPr>
              <a:t>SQLite</a:t>
            </a:r>
            <a:endParaRPr sz="1900">
              <a:solidFill>
                <a:srgbClr val="D6EDFF"/>
              </a:solidFill>
            </a:endParaRPr>
          </a:p>
        </p:txBody>
      </p:sp>
      <p:sp>
        <p:nvSpPr>
          <p:cNvPr id="203" name="Google Shape;203;p32"/>
          <p:cNvSpPr txBox="1"/>
          <p:nvPr/>
        </p:nvSpPr>
        <p:spPr>
          <a:xfrm>
            <a:off x="1280800" y="2690450"/>
            <a:ext cx="28941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ru">
                <a:solidFill>
                  <a:srgbClr val="D6EDFF"/>
                </a:solidFill>
              </a:rPr>
              <a:t>Надёжное и лёгкое решение для  DB</a:t>
            </a:r>
            <a:endParaRPr>
              <a:solidFill>
                <a:srgbClr val="D6EDFF"/>
              </a:solidFill>
            </a:endParaRPr>
          </a:p>
        </p:txBody>
      </p:sp>
      <p:pic>
        <p:nvPicPr>
          <p:cNvPr id="204" name="Google Shape;204;p3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208675" y="1853875"/>
            <a:ext cx="726650" cy="72665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32"/>
          <p:cNvSpPr txBox="1"/>
          <p:nvPr/>
        </p:nvSpPr>
        <p:spPr>
          <a:xfrm>
            <a:off x="4572000" y="1777675"/>
            <a:ext cx="381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b="1" lang="ru" sz="1800">
                <a:solidFill>
                  <a:srgbClr val="D6EDFF"/>
                </a:solidFill>
              </a:rPr>
              <a:t>Next.js</a:t>
            </a:r>
            <a:endParaRPr sz="1900">
              <a:solidFill>
                <a:srgbClr val="D6EDFF"/>
              </a:solidFill>
            </a:endParaRPr>
          </a:p>
        </p:txBody>
      </p:sp>
      <p:sp>
        <p:nvSpPr>
          <p:cNvPr id="206" name="Google Shape;206;p32"/>
          <p:cNvSpPr txBox="1"/>
          <p:nvPr/>
        </p:nvSpPr>
        <p:spPr>
          <a:xfrm>
            <a:off x="4935850" y="2008725"/>
            <a:ext cx="34509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ru">
                <a:solidFill>
                  <a:srgbClr val="D6EDFF"/>
                </a:solidFill>
              </a:rPr>
              <a:t>Современный интерфейс с server-side рендерингом</a:t>
            </a:r>
            <a:endParaRPr>
              <a:solidFill>
                <a:srgbClr val="D6EDFF"/>
              </a:solidFill>
            </a:endParaRPr>
          </a:p>
        </p:txBody>
      </p:sp>
      <p:pic>
        <p:nvPicPr>
          <p:cNvPr id="207" name="Google Shape;207;p32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52400" y="3459775"/>
            <a:ext cx="585123" cy="4617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2"/>
          <p:cNvSpPr txBox="1"/>
          <p:nvPr/>
        </p:nvSpPr>
        <p:spPr>
          <a:xfrm>
            <a:off x="360050" y="3195250"/>
            <a:ext cx="381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b="1" lang="ru" sz="1800">
                <a:solidFill>
                  <a:srgbClr val="D6EDFF"/>
                </a:solidFill>
              </a:rPr>
              <a:t>Docker</a:t>
            </a:r>
            <a:endParaRPr sz="1900">
              <a:solidFill>
                <a:srgbClr val="D6EDFF"/>
              </a:solidFill>
            </a:endParaRPr>
          </a:p>
        </p:txBody>
      </p:sp>
      <p:sp>
        <p:nvSpPr>
          <p:cNvPr id="209" name="Google Shape;209;p32"/>
          <p:cNvSpPr txBox="1"/>
          <p:nvPr/>
        </p:nvSpPr>
        <p:spPr>
          <a:xfrm>
            <a:off x="723900" y="3426300"/>
            <a:ext cx="3450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ru">
                <a:solidFill>
                  <a:srgbClr val="D6EDFF"/>
                </a:solidFill>
              </a:rPr>
              <a:t>Безопасная контейнеризация сервисов</a:t>
            </a:r>
            <a:endParaRPr>
              <a:solidFill>
                <a:srgbClr val="D6EDFF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3"/>
          <p:cNvSpPr txBox="1"/>
          <p:nvPr/>
        </p:nvSpPr>
        <p:spPr>
          <a:xfrm>
            <a:off x="360054" y="348625"/>
            <a:ext cx="78516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3000">
                <a:solidFill>
                  <a:srgbClr val="D6EDFF"/>
                </a:solidFill>
              </a:rPr>
              <a:t>Дорожная карта</a:t>
            </a:r>
            <a:endParaRPr b="1" sz="3000">
              <a:solidFill>
                <a:srgbClr val="D6EDFF"/>
              </a:solidFill>
            </a:endParaRPr>
          </a:p>
        </p:txBody>
      </p:sp>
      <p:sp>
        <p:nvSpPr>
          <p:cNvPr id="215" name="Google Shape;215;p33"/>
          <p:cNvSpPr txBox="1"/>
          <p:nvPr/>
        </p:nvSpPr>
        <p:spPr>
          <a:xfrm>
            <a:off x="360050" y="740100"/>
            <a:ext cx="78516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Что нам предстоит сделать</a:t>
            </a:r>
            <a:endParaRPr sz="1800">
              <a:solidFill>
                <a:srgbClr val="D6EDFF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4"/>
          <p:cNvSpPr txBox="1"/>
          <p:nvPr/>
        </p:nvSpPr>
        <p:spPr>
          <a:xfrm>
            <a:off x="360054" y="348625"/>
            <a:ext cx="78516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3000">
                <a:solidFill>
                  <a:srgbClr val="D6EDFF"/>
                </a:solidFill>
              </a:rPr>
              <a:t>Команда проекта</a:t>
            </a:r>
            <a:endParaRPr b="1" sz="3000">
              <a:solidFill>
                <a:srgbClr val="D6EDFF"/>
              </a:solidFill>
            </a:endParaRPr>
          </a:p>
        </p:txBody>
      </p:sp>
      <p:sp>
        <p:nvSpPr>
          <p:cNvPr id="221" name="Google Shape;221;p34"/>
          <p:cNvSpPr txBox="1"/>
          <p:nvPr/>
        </p:nvSpPr>
        <p:spPr>
          <a:xfrm>
            <a:off x="360050" y="740100"/>
            <a:ext cx="78516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rgbClr val="D6EDFF"/>
                </a:solidFill>
              </a:rPr>
              <a:t>А нужно ли?</a:t>
            </a:r>
            <a:endParaRPr sz="1800">
              <a:solidFill>
                <a:srgbClr val="D6ED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